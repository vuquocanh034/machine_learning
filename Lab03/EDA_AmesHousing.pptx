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extended-properties" Target="docProps/app.xml"/><Relationship Id="rId2" Type="http://schemas.openxmlformats.org/package/2006/relationships/metadata/core-properties" Target="docProps/core.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Lst>
  <p:notesMasterIdLst>
    <p:notesMasterId r:id="rId13"/>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3" Type="http://schemas.openxmlformats.org/officeDocument/2006/relationships/notesMaster" Target="notesMasters/notesMaster1.xml"/><Relationship Id="rId14" Type="http://schemas.openxmlformats.org/officeDocument/2006/relationships/presProps" Target="presProps.xml"/><Relationship Id="rId15" Type="http://schemas.openxmlformats.org/officeDocument/2006/relationships/viewProps" Target="viewProps.xml"/><Relationship Id="rId16" Type="http://schemas.openxmlformats.org/officeDocument/2006/relationships/theme" Target="theme/theme1.xml"/><Relationship Id="rId17"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Giới thiệu đề tài EDA Ames Housing và phạm vi nhóm thực hiện.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Nêu bài toán hồi quy, nguồn dữ liệu và lý do cần EDA trước khi mô hình hóa.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Giải thích sự khác nhau giữa kiểu dữ liệu Python đọc được và bản chất của biến.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Nhấn mạnh SalePrice lệch phải (skewness = 1,88) và sau log còn khoảng 0,12.</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Nêu các đặc điểm nổi bật của biến diện tích và các biến phân loại.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Giải thích correlation là mối liên hệ tuyến tính, không phải quan hệ nhân quả.</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Trình bày xu hướng giữa diện tích - giá và sự khác nhau giữa các Neighborhood.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Giải thích missing có cấu trúc và vì sao không nên điền thiếu giống nhau cho mọi biến.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Phân biệt điểm ngoài IQR với dữ liệu sai; nhấn mạnh 2 mẫu trong Kaggle và 5 mẫu trong paper.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Tóm tắt các kết quả EDA và chuyển sang bước tiền xử lý/mô hình hóa.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MASTER">
    <p:bg>
      <p:bgPr>
        <a:solidFill>
          <a:srgbClr val="F7F8FA"/>
        </a:solidFill>
      </p:bgPr>
    </p:bg>
    <p:spTree>
      <p:nvGrpSpPr>
        <p:cNvPr id="1" name=""/>
        <p:cNvGrpSpPr/>
        <p:nvPr/>
      </p:nvGrpSpPr>
      <p:grpSpPr>
        <a:xfrm>
          <a:off x="0" y="0"/>
          <a:ext cx="0" cy="0"/>
          <a:chOff x="0" y="0"/>
          <a:chExt cx="0" cy="0"/>
        </a:xfrm>
      </p:grpSpPr>
      <p:sp>
        <p:nvSpPr>
          <p:cNvPr id="2" name="Shape 0"/>
          <p:cNvSpPr/>
          <p:nvPr/>
        </p:nvSpPr>
        <p:spPr>
          <a:xfrm>
            <a:off x="0" y="0"/>
            <a:ext cx="12191695" cy="73152"/>
          </a:xfrm>
          <a:prstGeom prst="rect">
            <a:avLst/>
          </a:prstGeom>
          <a:solidFill>
            <a:srgbClr val="B53B32"/>
          </a:solidFill>
          <a:ln w="12700">
            <a:solidFill>
              <a:srgbClr val="B53B32"/>
            </a:solidFill>
            <a:prstDash val="solid"/>
          </a:ln>
        </p:spPr>
        <p:txBody>
          <a:body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777472" y="6446520"/>
            <a:ext cx="800000" cy="300000"/>
          </a:xfrm>
          <a:prstGeom prst="rect">
            <a:avLst/>
          </a:prstGeom>
          <a:extLst>
            <a:ext uri="{C572A759-6A51-4108-AA02-DFA0A04FC94B}">
              <ma14:wrappingTextBoxFlag xmlns:ma14="http://schemas.microsoft.com/office/mac/drawingml/2011/main" val="0"/>
            </a:ext>
          </a:extLst>
        </p:spPr>
        <p:txBody>
          <a:bodyPr/>
          <a:lstStyle>
            <a:lvl1pPr>
              <a:defRPr sz="800">
                <a:solidFill>
                  <a:srgbClr val="6B7280"/>
                </a:solidFill>
                <a:latin typeface="Times New Roman"/>
                <a:ea typeface="Times New Roman"/>
                <a:cs typeface="Times New Roman"/>
              </a:defRPr>
            </a:lvl1pPr>
          </a:lstStyle>
          <a:p>
            <a:pPr algn="l"/>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slideLayout" Target="../slideLayouts/slideLayout2.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2.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2.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2.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slideLayout" Target="../slideLayouts/slideLayout2.xml"/><Relationship Id="rId4"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2.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2.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73B5E"/>
        </a:solidFill>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173B5E"/>
          </a:solidFill>
          <a:ln w="12700">
            <a:solidFill>
              <a:srgbClr val="173B5E"/>
            </a:solidFill>
            <a:prstDash val="solid"/>
          </a:ln>
        </p:spPr>
        <p:txBody>
          <a:bodyPr/>
          <a:p/>
        </p:txBody>
      </p:sp>
      <p:sp>
        <p:nvSpPr>
          <p:cNvPr id="3" name="Shape 1"/>
          <p:cNvSpPr/>
          <p:nvPr/>
        </p:nvSpPr>
        <p:spPr>
          <a:xfrm>
            <a:off x="0" y="0"/>
            <a:ext cx="164592" cy="6858000"/>
          </a:xfrm>
          <a:prstGeom prst="rect">
            <a:avLst/>
          </a:prstGeom>
          <a:solidFill>
            <a:srgbClr val="B53B32"/>
          </a:solidFill>
          <a:ln w="12700">
            <a:solidFill>
              <a:srgbClr val="B53B32"/>
            </a:solidFill>
            <a:prstDash val="solid"/>
          </a:ln>
        </p:spPr>
        <p:txBody>
          <a:bodyPr/>
          <a:p/>
        </p:txBody>
      </p:sp>
      <p:sp>
        <p:nvSpPr>
          <p:cNvPr id="4" name="Text 2"/>
          <p:cNvSpPr/>
          <p:nvPr/>
        </p:nvSpPr>
        <p:spPr>
          <a:xfrm>
            <a:off x="685800" y="658368"/>
            <a:ext cx="4389120" cy="566928"/>
          </a:xfrm>
          <a:prstGeom prst="rect">
            <a:avLst/>
          </a:prstGeom>
          <a:noFill/>
          <a:ln/>
        </p:spPr>
        <p:txBody>
          <a:bodyPr wrap="square" lIns="0" tIns="0" rIns="0" bIns="0" rtlCol="0" anchor="ctr"/>
          <a:lstStyle/>
          <a:p>
            <a:pPr indent="0" marL="0">
              <a:buNone/>
            </a:pPr>
            <a:r>
              <a:rPr lang="en-US" sz="1600" b="1" dirty="0">
                <a:solidFill>
                  <a:srgbClr val="FFFFFF"/>
                </a:solidFill>
                <a:latin typeface="Times New Roman" pitchFamily="34" charset="0"/>
                <a:ea typeface="Times New Roman" pitchFamily="34" charset="-122"/>
                <a:cs typeface="Times New Roman" pitchFamily="34" charset="-120"/>
              </a:rPr>
              <a:t>TRƯỜNG ĐẠI HỌC SÀI GÒN</a:t>
            </a:r>
            <a:endParaRPr lang="en-US" sz="1600" dirty="0"/>
          </a:p>
          <a:p>
            <a:pPr indent="0" marL="0">
              <a:buNone/>
            </a:pPr>
            <a:r>
              <a:rPr lang="en-US" sz="1600" b="1" dirty="0">
                <a:solidFill>
                  <a:srgbClr val="FFFFFF"/>
                </a:solidFill>
                <a:latin typeface="Times New Roman" pitchFamily="34" charset="0"/>
                <a:ea typeface="Times New Roman" pitchFamily="34" charset="-122"/>
                <a:cs typeface="Times New Roman" pitchFamily="34" charset="-120"/>
              </a:rPr>
              <a:t>KHOA CÔNG NGHỆ THÔNG TIN</a:t>
            </a:r>
            <a:endParaRPr lang="en-US" sz="1600" dirty="0"/>
          </a:p>
        </p:txBody>
      </p:sp>
      <p:sp>
        <p:nvSpPr>
          <p:cNvPr id="5" name="Text 3"/>
          <p:cNvSpPr/>
          <p:nvPr/>
        </p:nvSpPr>
        <p:spPr>
          <a:xfrm>
            <a:off x="713232" y="1847088"/>
            <a:ext cx="7680960" cy="475488"/>
          </a:xfrm>
          <a:prstGeom prst="rect">
            <a:avLst/>
          </a:prstGeom>
          <a:noFill/>
          <a:ln/>
        </p:spPr>
        <p:txBody>
          <a:bodyPr wrap="square" lIns="0" tIns="0" rIns="0" bIns="0" rtlCol="0" anchor="ctr"/>
          <a:lstStyle/>
          <a:p>
            <a:pPr indent="0" marL="0">
              <a:buNone/>
            </a:pPr>
            <a:r>
              <a:rPr lang="en-US" sz="2900" b="1" dirty="0">
                <a:solidFill>
                  <a:srgbClr val="FFFFFF"/>
                </a:solidFill>
                <a:latin typeface="Times New Roman" pitchFamily="34" charset="0"/>
                <a:ea typeface="Times New Roman" pitchFamily="34" charset="-122"/>
                <a:cs typeface="Times New Roman" pitchFamily="34" charset="-120"/>
              </a:rPr>
              <a:t>PHÂN TÍCH KHÁM PHÁ DỮ LIỆU</a:t>
            </a:r>
            <a:endParaRPr lang="en-US" sz="2900" dirty="0"/>
          </a:p>
        </p:txBody>
      </p:sp>
      <p:sp>
        <p:nvSpPr>
          <p:cNvPr id="6" name="Text 4"/>
          <p:cNvSpPr/>
          <p:nvPr/>
        </p:nvSpPr>
        <p:spPr>
          <a:xfrm>
            <a:off x="713232" y="2395728"/>
            <a:ext cx="7132320" cy="594360"/>
          </a:xfrm>
          <a:prstGeom prst="rect">
            <a:avLst/>
          </a:prstGeom>
          <a:noFill/>
          <a:ln/>
        </p:spPr>
        <p:txBody>
          <a:bodyPr wrap="square" lIns="0" tIns="0" rIns="0" bIns="0" rtlCol="0" anchor="ctr"/>
          <a:lstStyle/>
          <a:p>
            <a:pPr indent="0" marL="0">
              <a:buNone/>
            </a:pPr>
            <a:r>
              <a:rPr lang="en-US" sz="3600" b="1" dirty="0">
                <a:solidFill>
                  <a:srgbClr val="F0D7D3"/>
                </a:solidFill>
                <a:latin typeface="Times New Roman" pitchFamily="34" charset="0"/>
                <a:ea typeface="Times New Roman" pitchFamily="34" charset="-122"/>
                <a:cs typeface="Times New Roman" pitchFamily="34" charset="-120"/>
              </a:rPr>
              <a:t>AMES HOUSING</a:t>
            </a:r>
            <a:endParaRPr lang="en-US" sz="3600" dirty="0"/>
          </a:p>
        </p:txBody>
      </p:sp>
      <p:sp>
        <p:nvSpPr>
          <p:cNvPr id="7" name="Text 5"/>
          <p:cNvSpPr/>
          <p:nvPr/>
        </p:nvSpPr>
        <p:spPr>
          <a:xfrm>
            <a:off x="731520" y="3172968"/>
            <a:ext cx="6675120" cy="658368"/>
          </a:xfrm>
          <a:prstGeom prst="rect">
            <a:avLst/>
          </a:prstGeom>
          <a:noFill/>
          <a:ln/>
        </p:spPr>
        <p:txBody>
          <a:bodyPr wrap="square" lIns="0" tIns="0" rIns="0" bIns="0" rtlCol="0" anchor="ctr"/>
          <a:lstStyle/>
          <a:p>
            <a:pPr indent="0" marL="0">
              <a:buNone/>
            </a:pPr>
            <a:r>
              <a:rPr lang="en-US" sz="1600" dirty="0">
                <a:solidFill>
                  <a:srgbClr val="E7EDF4"/>
                </a:solidFill>
                <a:latin typeface="Times New Roman" pitchFamily="34" charset="0"/>
                <a:ea typeface="Times New Roman" pitchFamily="34" charset="-122"/>
                <a:cs typeface="Times New Roman" pitchFamily="34" charset="-120"/>
              </a:rPr>
              <a:t>Khảo sát bài toán • Phân tích đơn biến • Phân tích đa biến</a:t>
            </a:r>
            <a:endParaRPr lang="en-US" sz="1600" dirty="0"/>
          </a:p>
          <a:p>
            <a:pPr indent="0" marL="0">
              <a:buNone/>
            </a:pPr>
            <a:r>
              <a:rPr lang="en-US" sz="1600" dirty="0">
                <a:solidFill>
                  <a:srgbClr val="E7EDF4"/>
                </a:solidFill>
                <a:latin typeface="Times New Roman" pitchFamily="34" charset="0"/>
                <a:ea typeface="Times New Roman" pitchFamily="34" charset="-122"/>
                <a:cs typeface="Times New Roman" pitchFamily="34" charset="-120"/>
              </a:rPr>
              <a:t>Giá trị thiếu • Mẫu bất thường • Ngoại lệ</a:t>
            </a:r>
            <a:endParaRPr lang="en-US" sz="1600" dirty="0"/>
          </a:p>
        </p:txBody>
      </p:sp>
      <p:sp>
        <p:nvSpPr>
          <p:cNvPr id="8" name="Shape 6"/>
          <p:cNvSpPr/>
          <p:nvPr/>
        </p:nvSpPr>
        <p:spPr>
          <a:xfrm>
            <a:off x="8183880" y="1005840"/>
            <a:ext cx="3063240" cy="4389120"/>
          </a:xfrm>
          <a:prstGeom prst="roundRect">
            <a:avLst>
              <a:gd name="adj" fmla="val 2388"/>
            </a:avLst>
          </a:prstGeom>
          <a:solidFill>
            <a:srgbClr val="234A6E"/>
          </a:solidFill>
          <a:ln w="15240">
            <a:solidFill>
              <a:srgbClr val="5D7F9D">
                <a:alpha val="65000"/>
              </a:srgbClr>
            </a:solidFill>
            <a:prstDash val="solid"/>
          </a:ln>
        </p:spPr>
        <p:txBody>
          <a:bodyPr/>
          <a:p/>
        </p:txBody>
      </p:sp>
      <p:sp>
        <p:nvSpPr>
          <p:cNvPr id="9" name="Text 7"/>
          <p:cNvSpPr/>
          <p:nvPr/>
        </p:nvSpPr>
        <p:spPr>
          <a:xfrm>
            <a:off x="8549640" y="1417320"/>
            <a:ext cx="2331720" cy="640080"/>
          </a:xfrm>
          <a:prstGeom prst="rect">
            <a:avLst/>
          </a:prstGeom>
          <a:noFill/>
          <a:ln/>
        </p:spPr>
        <p:txBody>
          <a:bodyPr wrap="square" lIns="0" tIns="0" rIns="0" bIns="0" rtlCol="0" anchor="ctr"/>
          <a:lstStyle/>
          <a:p>
            <a:pPr algn="ctr" indent="0" marL="0">
              <a:buNone/>
            </a:pPr>
            <a:r>
              <a:rPr lang="en-US" sz="4400" b="1" dirty="0">
                <a:solidFill>
                  <a:srgbClr val="FFFFFF"/>
                </a:solidFill>
                <a:latin typeface="Times New Roman" pitchFamily="34" charset="0"/>
                <a:ea typeface="Times New Roman" pitchFamily="34" charset="-122"/>
                <a:cs typeface="Times New Roman" pitchFamily="34" charset="-120"/>
              </a:rPr>
              <a:t>EDA</a:t>
            </a:r>
            <a:endParaRPr lang="en-US" sz="4400" dirty="0"/>
          </a:p>
        </p:txBody>
      </p:sp>
      <p:sp>
        <p:nvSpPr>
          <p:cNvPr id="10" name="Text 8"/>
          <p:cNvSpPr/>
          <p:nvPr/>
        </p:nvSpPr>
        <p:spPr>
          <a:xfrm>
            <a:off x="8549640" y="2240280"/>
            <a:ext cx="2331720" cy="347472"/>
          </a:xfrm>
          <a:prstGeom prst="rect">
            <a:avLst/>
          </a:prstGeom>
          <a:noFill/>
          <a:ln/>
        </p:spPr>
        <p:txBody>
          <a:bodyPr wrap="square" lIns="0" tIns="0" rIns="0" bIns="0" rtlCol="0" anchor="ctr"/>
          <a:lstStyle/>
          <a:p>
            <a:pPr algn="ctr" indent="0" marL="0">
              <a:buNone/>
            </a:pPr>
            <a:r>
              <a:rPr lang="en-US" sz="1700" dirty="0">
                <a:solidFill>
                  <a:srgbClr val="DCE7F1"/>
                </a:solidFill>
                <a:latin typeface="Times New Roman" pitchFamily="34" charset="0"/>
                <a:ea typeface="Times New Roman" pitchFamily="34" charset="-122"/>
                <a:cs typeface="Times New Roman" pitchFamily="34" charset="-120"/>
              </a:rPr>
              <a:t>Ames Housing</a:t>
            </a:r>
            <a:endParaRPr lang="en-US" sz="1700" dirty="0"/>
          </a:p>
        </p:txBody>
      </p:sp>
      <p:sp>
        <p:nvSpPr>
          <p:cNvPr id="11" name="Shape 9"/>
          <p:cNvSpPr/>
          <p:nvPr/>
        </p:nvSpPr>
        <p:spPr>
          <a:xfrm>
            <a:off x="8686800" y="4334256"/>
            <a:ext cx="210312" cy="329184"/>
          </a:xfrm>
          <a:prstGeom prst="rect">
            <a:avLst/>
          </a:prstGeom>
          <a:solidFill>
            <a:srgbClr val="7C9BB5"/>
          </a:solidFill>
          <a:ln w="12700">
            <a:solidFill>
              <a:srgbClr val="7C9BB5"/>
            </a:solidFill>
            <a:prstDash val="solid"/>
          </a:ln>
        </p:spPr>
        <p:txBody>
          <a:bodyPr/>
          <a:p/>
        </p:txBody>
      </p:sp>
      <p:sp>
        <p:nvSpPr>
          <p:cNvPr id="12" name="Shape 10"/>
          <p:cNvSpPr/>
          <p:nvPr/>
        </p:nvSpPr>
        <p:spPr>
          <a:xfrm>
            <a:off x="9070848" y="4128516"/>
            <a:ext cx="210312" cy="534924"/>
          </a:xfrm>
          <a:prstGeom prst="rect">
            <a:avLst/>
          </a:prstGeom>
          <a:solidFill>
            <a:srgbClr val="7C9BB5"/>
          </a:solidFill>
          <a:ln w="12700">
            <a:solidFill>
              <a:srgbClr val="7C9BB5"/>
            </a:solidFill>
            <a:prstDash val="solid"/>
          </a:ln>
        </p:spPr>
        <p:txBody>
          <a:bodyPr/>
          <a:p/>
        </p:txBody>
      </p:sp>
      <p:sp>
        <p:nvSpPr>
          <p:cNvPr id="13" name="Shape 11"/>
          <p:cNvSpPr/>
          <p:nvPr/>
        </p:nvSpPr>
        <p:spPr>
          <a:xfrm>
            <a:off x="9454896" y="3881628"/>
            <a:ext cx="210312" cy="781812"/>
          </a:xfrm>
          <a:prstGeom prst="rect">
            <a:avLst/>
          </a:prstGeom>
          <a:solidFill>
            <a:srgbClr val="7C9BB5"/>
          </a:solidFill>
          <a:ln w="12700">
            <a:solidFill>
              <a:srgbClr val="7C9BB5"/>
            </a:solidFill>
            <a:prstDash val="solid"/>
          </a:ln>
        </p:spPr>
        <p:txBody>
          <a:bodyPr/>
          <a:p/>
        </p:txBody>
      </p:sp>
      <p:sp>
        <p:nvSpPr>
          <p:cNvPr id="14" name="Shape 12"/>
          <p:cNvSpPr/>
          <p:nvPr/>
        </p:nvSpPr>
        <p:spPr>
          <a:xfrm>
            <a:off x="9838944" y="3675888"/>
            <a:ext cx="210312" cy="987552"/>
          </a:xfrm>
          <a:prstGeom prst="rect">
            <a:avLst/>
          </a:prstGeom>
          <a:solidFill>
            <a:srgbClr val="7C9BB5"/>
          </a:solidFill>
          <a:ln w="12700">
            <a:solidFill>
              <a:srgbClr val="7C9BB5"/>
            </a:solidFill>
            <a:prstDash val="solid"/>
          </a:ln>
        </p:spPr>
        <p:txBody>
          <a:bodyPr/>
          <a:p/>
        </p:txBody>
      </p:sp>
      <p:sp>
        <p:nvSpPr>
          <p:cNvPr id="15" name="Shape 13"/>
          <p:cNvSpPr/>
          <p:nvPr/>
        </p:nvSpPr>
        <p:spPr>
          <a:xfrm>
            <a:off x="10222992" y="3449574"/>
            <a:ext cx="210312" cy="1213866"/>
          </a:xfrm>
          <a:prstGeom prst="rect">
            <a:avLst/>
          </a:prstGeom>
          <a:solidFill>
            <a:srgbClr val="D78A82"/>
          </a:solidFill>
          <a:ln w="12700">
            <a:solidFill>
              <a:srgbClr val="D78A82"/>
            </a:solidFill>
            <a:prstDash val="solid"/>
          </a:ln>
        </p:spPr>
        <p:txBody>
          <a:body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566928" y="347472"/>
            <a:ext cx="10789920" cy="384048"/>
          </a:xfrm>
          <a:prstGeom prst="rect">
            <a:avLst/>
          </a:prstGeom>
          <a:noFill/>
          <a:ln/>
        </p:spPr>
        <p:txBody>
          <a:bodyPr wrap="square" lIns="0" tIns="0" rIns="0" bIns="0" rtlCol="0" anchor="ctr"/>
          <a:lstStyle/>
          <a:p>
            <a:pPr indent="0" marL="0">
              <a:buNone/>
            </a:pPr>
            <a:r>
              <a:rPr lang="en-US" sz="2700" b="1" dirty="0">
                <a:solidFill>
                  <a:srgbClr val="173B5E"/>
                </a:solidFill>
                <a:latin typeface="Times New Roman" pitchFamily="34" charset="0"/>
                <a:ea typeface="Times New Roman" pitchFamily="34" charset="-122"/>
                <a:cs typeface="Times New Roman" pitchFamily="34" charset="-120"/>
              </a:rPr>
              <a:t>1. Khảo sát bài toán</a:t>
            </a:r>
            <a:endParaRPr lang="en-US" sz="2700" dirty="0"/>
          </a:p>
        </p:txBody>
      </p:sp>
      <p:sp>
        <p:nvSpPr>
          <p:cNvPr id="3" name="Shape 1"/>
          <p:cNvSpPr/>
          <p:nvPr/>
        </p:nvSpPr>
        <p:spPr>
          <a:xfrm>
            <a:off x="566928" y="859536"/>
            <a:ext cx="731520" cy="0"/>
          </a:xfrm>
          <a:prstGeom prst="line">
            <a:avLst/>
          </a:prstGeom>
          <a:noFill/>
          <a:ln w="31750">
            <a:solidFill>
              <a:srgbClr val="B53B32"/>
            </a:solidFill>
            <a:prstDash val="solid"/>
          </a:ln>
        </p:spPr>
        <p:txBody>
          <a:bodyPr/>
          <a:p/>
        </p:txBody>
      </p:sp>
      <p:sp>
        <p:nvSpPr>
          <p:cNvPr id="4" name="Text 2"/>
          <p:cNvSpPr/>
          <p:nvPr/>
        </p:nvSpPr>
        <p:spPr>
          <a:xfrm>
            <a:off x="1389888" y="777240"/>
            <a:ext cx="9784080" cy="256032"/>
          </a:xfrm>
          <a:prstGeom prst="rect">
            <a:avLst/>
          </a:prstGeom>
          <a:noFill/>
          <a:ln/>
        </p:spPr>
        <p:txBody>
          <a:bodyPr wrap="square" lIns="0" tIns="0" rIns="0" bIns="0" rtlCol="0" anchor="ctr"/>
          <a:lstStyle/>
          <a:p>
            <a:pPr indent="0" marL="0">
              <a:buNone/>
            </a:pPr>
            <a:r>
              <a:rPr lang="en-US" sz="1100" dirty="0">
                <a:solidFill>
                  <a:srgbClr val="667085"/>
                </a:solidFill>
                <a:latin typeface="Times New Roman" pitchFamily="34" charset="0"/>
                <a:ea typeface="Times New Roman" pitchFamily="34" charset="-122"/>
                <a:cs typeface="Times New Roman" pitchFamily="34" charset="-120"/>
              </a:rPr>
              <a:t>Bối cảnh, dữ liệu và mục tiêu của EDA</a:t>
            </a:r>
            <a:endParaRPr lang="en-US" sz="1100" dirty="0"/>
          </a:p>
        </p:txBody>
      </p:sp>
      <p:sp>
        <p:nvSpPr>
          <p:cNvPr id="5" name="Shape 3"/>
          <p:cNvSpPr/>
          <p:nvPr/>
        </p:nvSpPr>
        <p:spPr>
          <a:xfrm>
            <a:off x="594360" y="1170432"/>
            <a:ext cx="3520440" cy="1874520"/>
          </a:xfrm>
          <a:prstGeom prst="roundRect">
            <a:avLst>
              <a:gd name="adj" fmla="val 2927"/>
            </a:avLst>
          </a:prstGeom>
          <a:solidFill>
            <a:srgbClr val="FFFFFF"/>
          </a:solidFill>
          <a:ln w="12700">
            <a:solidFill>
              <a:srgbClr val="E1E6EC"/>
            </a:solidFill>
            <a:prstDash val="solid"/>
          </a:ln>
        </p:spPr>
        <p:txBody>
          <a:bodyPr/>
          <a:p/>
        </p:txBody>
      </p:sp>
      <p:sp>
        <p:nvSpPr>
          <p:cNvPr id="6" name="Shape 4"/>
          <p:cNvSpPr/>
          <p:nvPr/>
        </p:nvSpPr>
        <p:spPr>
          <a:xfrm>
            <a:off x="594360" y="1170432"/>
            <a:ext cx="73152" cy="1874520"/>
          </a:xfrm>
          <a:prstGeom prst="rect">
            <a:avLst/>
          </a:prstGeom>
          <a:solidFill>
            <a:srgbClr val="B53B32"/>
          </a:solidFill>
          <a:ln w="12700">
            <a:solidFill>
              <a:srgbClr val="B53B32"/>
            </a:solidFill>
            <a:prstDash val="solid"/>
          </a:ln>
        </p:spPr>
        <p:txBody>
          <a:bodyPr/>
          <a:p/>
        </p:txBody>
      </p:sp>
      <p:sp>
        <p:nvSpPr>
          <p:cNvPr id="7" name="Text 5"/>
          <p:cNvSpPr/>
          <p:nvPr/>
        </p:nvSpPr>
        <p:spPr>
          <a:xfrm>
            <a:off x="795528" y="1316736"/>
            <a:ext cx="3154680" cy="256032"/>
          </a:xfrm>
          <a:prstGeom prst="rect">
            <a:avLst/>
          </a:prstGeom>
          <a:noFill/>
          <a:ln/>
        </p:spPr>
        <p:txBody>
          <a:bodyPr wrap="square" lIns="0" tIns="0" rIns="0" bIns="0" rtlCol="0" anchor="ctr"/>
          <a:lstStyle/>
          <a:p>
            <a:pPr indent="0" marL="0">
              <a:buNone/>
            </a:pPr>
            <a:r>
              <a:rPr lang="en-US" sz="1500" b="1" dirty="0">
                <a:solidFill>
                  <a:srgbClr val="1F2937"/>
                </a:solidFill>
                <a:latin typeface="Times New Roman" pitchFamily="34" charset="0"/>
                <a:ea typeface="Times New Roman" pitchFamily="34" charset="-122"/>
                <a:cs typeface="Times New Roman" pitchFamily="34" charset="-120"/>
              </a:rPr>
              <a:t>Bài toán</a:t>
            </a:r>
            <a:endParaRPr lang="en-US" sz="1500" dirty="0"/>
          </a:p>
        </p:txBody>
      </p:sp>
      <p:sp>
        <p:nvSpPr>
          <p:cNvPr id="8" name="Text 6"/>
          <p:cNvSpPr/>
          <p:nvPr/>
        </p:nvSpPr>
        <p:spPr>
          <a:xfrm>
            <a:off x="795528" y="1655064"/>
            <a:ext cx="3172968" cy="1252728"/>
          </a:xfrm>
          <a:prstGeom prst="rect">
            <a:avLst/>
          </a:prstGeom>
          <a:noFill/>
          <a:ln/>
        </p:spPr>
        <p:txBody>
          <a:bodyPr wrap="square" lIns="254" tIns="254" rIns="254" bIns="254" rtlCol="0" anchor="t">
            <a:normAutofit/>
          </a:bodyPr>
          <a:lstStyle/>
          <a:p>
            <a:pPr indent="0" marL="0">
              <a:buNone/>
            </a:pPr>
            <a:r>
              <a:rPr lang="en-US" sz="1250" dirty="0">
                <a:solidFill>
                  <a:srgbClr val="1F2937"/>
                </a:solidFill>
                <a:latin typeface="Times New Roman" pitchFamily="34" charset="0"/>
                <a:ea typeface="Times New Roman" pitchFamily="34" charset="-122"/>
                <a:cs typeface="Times New Roman" pitchFamily="34" charset="-120"/>
              </a:rPr>
              <a:t>Dự đoán giá bán nhà (SalePrice) dựa trên các đặc điểm của ngôi nhà. Đây là bài toán hồi quy và EDA là bước trước khi xây dựng mô hình.</a:t>
            </a:r>
            <a:endParaRPr lang="en-US" sz="1250" dirty="0"/>
          </a:p>
        </p:txBody>
      </p:sp>
      <p:sp>
        <p:nvSpPr>
          <p:cNvPr id="9" name="Shape 7"/>
          <p:cNvSpPr/>
          <p:nvPr/>
        </p:nvSpPr>
        <p:spPr>
          <a:xfrm>
            <a:off x="4325112" y="1170432"/>
            <a:ext cx="3520440" cy="1874520"/>
          </a:xfrm>
          <a:prstGeom prst="roundRect">
            <a:avLst>
              <a:gd name="adj" fmla="val 2927"/>
            </a:avLst>
          </a:prstGeom>
          <a:solidFill>
            <a:srgbClr val="FFFFFF"/>
          </a:solidFill>
          <a:ln w="12700">
            <a:solidFill>
              <a:srgbClr val="E1E6EC"/>
            </a:solidFill>
            <a:prstDash val="solid"/>
          </a:ln>
        </p:spPr>
        <p:txBody>
          <a:bodyPr/>
          <a:p/>
        </p:txBody>
      </p:sp>
      <p:sp>
        <p:nvSpPr>
          <p:cNvPr id="10" name="Shape 8"/>
          <p:cNvSpPr/>
          <p:nvPr/>
        </p:nvSpPr>
        <p:spPr>
          <a:xfrm>
            <a:off x="4325112" y="1170432"/>
            <a:ext cx="73152" cy="1874520"/>
          </a:xfrm>
          <a:prstGeom prst="rect">
            <a:avLst/>
          </a:prstGeom>
          <a:solidFill>
            <a:srgbClr val="173B5E"/>
          </a:solidFill>
          <a:ln w="12700">
            <a:solidFill>
              <a:srgbClr val="173B5E"/>
            </a:solidFill>
            <a:prstDash val="solid"/>
          </a:ln>
        </p:spPr>
        <p:txBody>
          <a:bodyPr/>
          <a:p/>
        </p:txBody>
      </p:sp>
      <p:sp>
        <p:nvSpPr>
          <p:cNvPr id="11" name="Text 9"/>
          <p:cNvSpPr/>
          <p:nvPr/>
        </p:nvSpPr>
        <p:spPr>
          <a:xfrm>
            <a:off x="4526280" y="1316736"/>
            <a:ext cx="3154680" cy="256032"/>
          </a:xfrm>
          <a:prstGeom prst="rect">
            <a:avLst/>
          </a:prstGeom>
          <a:noFill/>
          <a:ln/>
        </p:spPr>
        <p:txBody>
          <a:bodyPr wrap="square" lIns="0" tIns="0" rIns="0" bIns="0" rtlCol="0" anchor="ctr"/>
          <a:lstStyle/>
          <a:p>
            <a:pPr indent="0" marL="0">
              <a:buNone/>
            </a:pPr>
            <a:r>
              <a:rPr lang="en-US" sz="1500" b="1" dirty="0">
                <a:solidFill>
                  <a:srgbClr val="1F2937"/>
                </a:solidFill>
                <a:latin typeface="Times New Roman" pitchFamily="34" charset="0"/>
                <a:ea typeface="Times New Roman" pitchFamily="34" charset="-122"/>
                <a:cs typeface="Times New Roman" pitchFamily="34" charset="-120"/>
              </a:rPr>
              <a:t>Nguồn dữ liệu</a:t>
            </a:r>
            <a:endParaRPr lang="en-US" sz="1500" dirty="0"/>
          </a:p>
        </p:txBody>
      </p:sp>
      <p:sp>
        <p:nvSpPr>
          <p:cNvPr id="12" name="Text 10"/>
          <p:cNvSpPr/>
          <p:nvPr/>
        </p:nvSpPr>
        <p:spPr>
          <a:xfrm>
            <a:off x="4526280" y="1655064"/>
            <a:ext cx="3172968" cy="1252728"/>
          </a:xfrm>
          <a:prstGeom prst="rect">
            <a:avLst/>
          </a:prstGeom>
          <a:noFill/>
          <a:ln/>
        </p:spPr>
        <p:txBody>
          <a:bodyPr wrap="square" lIns="254" tIns="254" rIns="254" bIns="254" rtlCol="0" anchor="t">
            <a:normAutofit/>
          </a:bodyPr>
          <a:lstStyle/>
          <a:p>
            <a:pPr indent="0" marL="0">
              <a:buNone/>
            </a:pPr>
            <a:r>
              <a:rPr lang="en-US" sz="1250" dirty="0">
                <a:solidFill>
                  <a:srgbClr val="1F2937"/>
                </a:solidFill>
                <a:latin typeface="Times New Roman" pitchFamily="34" charset="0"/>
                <a:ea typeface="Times New Roman" pitchFamily="34" charset="-122"/>
                <a:cs typeface="Times New Roman" pitchFamily="34" charset="-120"/>
              </a:rPr>
              <a:t>Ames Housing được De Cock (2011) giới thiệu. Nhóm sử dụng phiên bản Kaggle “House Prices - Advanced Regression Techniques”.</a:t>
            </a:r>
            <a:endParaRPr lang="en-US" sz="1250" dirty="0"/>
          </a:p>
        </p:txBody>
      </p:sp>
      <p:sp>
        <p:nvSpPr>
          <p:cNvPr id="13" name="Shape 11"/>
          <p:cNvSpPr/>
          <p:nvPr/>
        </p:nvSpPr>
        <p:spPr>
          <a:xfrm>
            <a:off x="8055864" y="1170432"/>
            <a:ext cx="3520440" cy="1874520"/>
          </a:xfrm>
          <a:prstGeom prst="roundRect">
            <a:avLst>
              <a:gd name="adj" fmla="val 2927"/>
            </a:avLst>
          </a:prstGeom>
          <a:solidFill>
            <a:srgbClr val="FFFFFF"/>
          </a:solidFill>
          <a:ln w="12700">
            <a:solidFill>
              <a:srgbClr val="E1E6EC"/>
            </a:solidFill>
            <a:prstDash val="solid"/>
          </a:ln>
        </p:spPr>
        <p:txBody>
          <a:bodyPr/>
          <a:p/>
        </p:txBody>
      </p:sp>
      <p:sp>
        <p:nvSpPr>
          <p:cNvPr id="14" name="Shape 12"/>
          <p:cNvSpPr/>
          <p:nvPr/>
        </p:nvSpPr>
        <p:spPr>
          <a:xfrm>
            <a:off x="8055864" y="1170432"/>
            <a:ext cx="73152" cy="1874520"/>
          </a:xfrm>
          <a:prstGeom prst="rect">
            <a:avLst/>
          </a:prstGeom>
          <a:solidFill>
            <a:srgbClr val="446F92"/>
          </a:solidFill>
          <a:ln w="12700">
            <a:solidFill>
              <a:srgbClr val="446F92"/>
            </a:solidFill>
            <a:prstDash val="solid"/>
          </a:ln>
        </p:spPr>
        <p:txBody>
          <a:bodyPr/>
          <a:p/>
        </p:txBody>
      </p:sp>
      <p:sp>
        <p:nvSpPr>
          <p:cNvPr id="15" name="Text 13"/>
          <p:cNvSpPr/>
          <p:nvPr/>
        </p:nvSpPr>
        <p:spPr>
          <a:xfrm>
            <a:off x="8257032" y="1316736"/>
            <a:ext cx="3154680" cy="256032"/>
          </a:xfrm>
          <a:prstGeom prst="rect">
            <a:avLst/>
          </a:prstGeom>
          <a:noFill/>
          <a:ln/>
        </p:spPr>
        <p:txBody>
          <a:bodyPr wrap="square" lIns="0" tIns="0" rIns="0" bIns="0" rtlCol="0" anchor="ctr"/>
          <a:lstStyle/>
          <a:p>
            <a:pPr indent="0" marL="0">
              <a:buNone/>
            </a:pPr>
            <a:r>
              <a:rPr lang="en-US" sz="1500" b="1" dirty="0">
                <a:solidFill>
                  <a:srgbClr val="1F2937"/>
                </a:solidFill>
                <a:latin typeface="Times New Roman" pitchFamily="34" charset="0"/>
                <a:ea typeface="Times New Roman" pitchFamily="34" charset="-122"/>
                <a:cs typeface="Times New Roman" pitchFamily="34" charset="-120"/>
              </a:rPr>
              <a:t>Phạm vi thực hiện</a:t>
            </a:r>
            <a:endParaRPr lang="en-US" sz="1500" dirty="0"/>
          </a:p>
        </p:txBody>
      </p:sp>
      <p:sp>
        <p:nvSpPr>
          <p:cNvPr id="16" name="Text 14"/>
          <p:cNvSpPr/>
          <p:nvPr/>
        </p:nvSpPr>
        <p:spPr>
          <a:xfrm>
            <a:off x="8257032" y="1655064"/>
            <a:ext cx="3172968" cy="1252728"/>
          </a:xfrm>
          <a:prstGeom prst="rect">
            <a:avLst/>
          </a:prstGeom>
          <a:noFill/>
          <a:ln/>
        </p:spPr>
        <p:txBody>
          <a:bodyPr wrap="square" lIns="254" tIns="254" rIns="254" bIns="254" rtlCol="0" anchor="t">
            <a:normAutofit/>
          </a:bodyPr>
          <a:lstStyle/>
          <a:p>
            <a:pPr indent="0" marL="0">
              <a:buNone/>
            </a:pPr>
            <a:r>
              <a:rPr lang="en-US" sz="1250" dirty="0">
                <a:solidFill>
                  <a:srgbClr val="1F2937"/>
                </a:solidFill>
                <a:latin typeface="Times New Roman" pitchFamily="34" charset="0"/>
                <a:ea typeface="Times New Roman" pitchFamily="34" charset="-122"/>
                <a:cs typeface="Times New Roman" pitchFamily="34" charset="-120"/>
              </a:rPr>
              <a:t>Tập trung vào hiểu dữ liệu, xem phân phối, tìm mối quan hệ giữa biến và SalePrice, kiểm tra giá trị thiếu và phát hiện quan sát bất thường.</a:t>
            </a:r>
            <a:endParaRPr lang="en-US" sz="1250" dirty="0"/>
          </a:p>
        </p:txBody>
      </p:sp>
      <p:sp>
        <p:nvSpPr>
          <p:cNvPr id="17" name="Shape 15"/>
          <p:cNvSpPr/>
          <p:nvPr/>
        </p:nvSpPr>
        <p:spPr>
          <a:xfrm>
            <a:off x="777240" y="3429000"/>
            <a:ext cx="2057400" cy="1060704"/>
          </a:xfrm>
          <a:prstGeom prst="roundRect">
            <a:avLst>
              <a:gd name="adj" fmla="val 5172"/>
            </a:avLst>
          </a:prstGeom>
          <a:solidFill>
            <a:srgbClr val="FFFFFF"/>
          </a:solidFill>
          <a:ln w="12700">
            <a:solidFill>
              <a:srgbClr val="E1E6EC"/>
            </a:solidFill>
            <a:prstDash val="solid"/>
          </a:ln>
        </p:spPr>
        <p:txBody>
          <a:bodyPr/>
          <a:p/>
        </p:txBody>
      </p:sp>
      <p:sp>
        <p:nvSpPr>
          <p:cNvPr id="18" name="Text 16"/>
          <p:cNvSpPr/>
          <p:nvPr/>
        </p:nvSpPr>
        <p:spPr>
          <a:xfrm>
            <a:off x="923544" y="3557016"/>
            <a:ext cx="1764792" cy="384048"/>
          </a:xfrm>
          <a:prstGeom prst="rect">
            <a:avLst/>
          </a:prstGeom>
          <a:noFill/>
          <a:ln/>
        </p:spPr>
        <p:txBody>
          <a:bodyPr wrap="square" lIns="0" tIns="0" rIns="0" bIns="0" rtlCol="0" anchor="ctr"/>
          <a:lstStyle/>
          <a:p>
            <a:pPr algn="ctr" indent="0" marL="0">
              <a:buNone/>
            </a:pPr>
            <a:r>
              <a:rPr lang="en-US" sz="2500" b="1" dirty="0">
                <a:solidFill>
                  <a:srgbClr val="173B5E"/>
                </a:solidFill>
                <a:latin typeface="Times New Roman" pitchFamily="34" charset="0"/>
                <a:ea typeface="Times New Roman" pitchFamily="34" charset="-122"/>
                <a:cs typeface="Times New Roman" pitchFamily="34" charset="-120"/>
              </a:rPr>
              <a:t>1460</a:t>
            </a:r>
            <a:endParaRPr lang="en-US" sz="2500" dirty="0"/>
          </a:p>
        </p:txBody>
      </p:sp>
      <p:sp>
        <p:nvSpPr>
          <p:cNvPr id="19" name="Text 17"/>
          <p:cNvSpPr/>
          <p:nvPr/>
        </p:nvSpPr>
        <p:spPr>
          <a:xfrm>
            <a:off x="923544" y="4050792"/>
            <a:ext cx="1764792" cy="246888"/>
          </a:xfrm>
          <a:prstGeom prst="rect">
            <a:avLst/>
          </a:prstGeom>
          <a:noFill/>
          <a:ln/>
        </p:spPr>
        <p:txBody>
          <a:bodyPr wrap="square" lIns="0" tIns="0" rIns="0" bIns="0" rtlCol="0" anchor="ctr"/>
          <a:lstStyle/>
          <a:p>
            <a:pPr algn="ctr" indent="0" marL="0">
              <a:buNone/>
            </a:pPr>
            <a:r>
              <a:rPr lang="en-US" sz="1050" dirty="0">
                <a:solidFill>
                  <a:srgbClr val="667085"/>
                </a:solidFill>
                <a:latin typeface="Times New Roman" pitchFamily="34" charset="0"/>
                <a:ea typeface="Times New Roman" pitchFamily="34" charset="-122"/>
                <a:cs typeface="Times New Roman" pitchFamily="34" charset="-120"/>
              </a:rPr>
              <a:t>quan sát train</a:t>
            </a:r>
            <a:endParaRPr lang="en-US" sz="1050" dirty="0"/>
          </a:p>
        </p:txBody>
      </p:sp>
      <p:sp>
        <p:nvSpPr>
          <p:cNvPr id="20" name="Shape 18"/>
          <p:cNvSpPr/>
          <p:nvPr/>
        </p:nvSpPr>
        <p:spPr>
          <a:xfrm>
            <a:off x="2971800" y="3429000"/>
            <a:ext cx="2057400" cy="1060704"/>
          </a:xfrm>
          <a:prstGeom prst="roundRect">
            <a:avLst>
              <a:gd name="adj" fmla="val 5172"/>
            </a:avLst>
          </a:prstGeom>
          <a:solidFill>
            <a:srgbClr val="FFFFFF"/>
          </a:solidFill>
          <a:ln w="12700">
            <a:solidFill>
              <a:srgbClr val="E1E6EC"/>
            </a:solidFill>
            <a:prstDash val="solid"/>
          </a:ln>
        </p:spPr>
        <p:txBody>
          <a:bodyPr/>
          <a:p/>
        </p:txBody>
      </p:sp>
      <p:sp>
        <p:nvSpPr>
          <p:cNvPr id="21" name="Text 19"/>
          <p:cNvSpPr/>
          <p:nvPr/>
        </p:nvSpPr>
        <p:spPr>
          <a:xfrm>
            <a:off x="3118104" y="3557016"/>
            <a:ext cx="1764792" cy="384048"/>
          </a:xfrm>
          <a:prstGeom prst="rect">
            <a:avLst/>
          </a:prstGeom>
          <a:noFill/>
          <a:ln/>
        </p:spPr>
        <p:txBody>
          <a:bodyPr wrap="square" lIns="0" tIns="0" rIns="0" bIns="0" rtlCol="0" anchor="ctr"/>
          <a:lstStyle/>
          <a:p>
            <a:pPr algn="ctr" indent="0" marL="0">
              <a:buNone/>
            </a:pPr>
            <a:r>
              <a:rPr lang="en-US" sz="2500" b="1" dirty="0">
                <a:solidFill>
                  <a:srgbClr val="B53B32"/>
                </a:solidFill>
                <a:latin typeface="Times New Roman" pitchFamily="34" charset="0"/>
                <a:ea typeface="Times New Roman" pitchFamily="34" charset="-122"/>
                <a:cs typeface="Times New Roman" pitchFamily="34" charset="-120"/>
              </a:rPr>
              <a:t>81</a:t>
            </a:r>
            <a:endParaRPr lang="en-US" sz="2500" dirty="0"/>
          </a:p>
        </p:txBody>
      </p:sp>
      <p:sp>
        <p:nvSpPr>
          <p:cNvPr id="22" name="Text 20"/>
          <p:cNvSpPr/>
          <p:nvPr/>
        </p:nvSpPr>
        <p:spPr>
          <a:xfrm>
            <a:off x="3118104" y="4050792"/>
            <a:ext cx="1764792" cy="246888"/>
          </a:xfrm>
          <a:prstGeom prst="rect">
            <a:avLst/>
          </a:prstGeom>
          <a:noFill/>
          <a:ln/>
        </p:spPr>
        <p:txBody>
          <a:bodyPr wrap="square" lIns="0" tIns="0" rIns="0" bIns="0" rtlCol="0" anchor="ctr"/>
          <a:lstStyle/>
          <a:p>
            <a:pPr algn="ctr" indent="0" marL="0">
              <a:buNone/>
            </a:pPr>
            <a:r>
              <a:rPr lang="en-US" sz="1050" dirty="0">
                <a:solidFill>
                  <a:srgbClr val="667085"/>
                </a:solidFill>
                <a:latin typeface="Times New Roman" pitchFamily="34" charset="0"/>
                <a:ea typeface="Times New Roman" pitchFamily="34" charset="-122"/>
                <a:cs typeface="Times New Roman" pitchFamily="34" charset="-120"/>
              </a:rPr>
              <a:t>cột</a:t>
            </a:r>
            <a:endParaRPr lang="en-US" sz="1050" dirty="0"/>
          </a:p>
        </p:txBody>
      </p:sp>
      <p:sp>
        <p:nvSpPr>
          <p:cNvPr id="23" name="Shape 21"/>
          <p:cNvSpPr/>
          <p:nvPr/>
        </p:nvSpPr>
        <p:spPr>
          <a:xfrm>
            <a:off x="5166360" y="3429000"/>
            <a:ext cx="2057400" cy="1060704"/>
          </a:xfrm>
          <a:prstGeom prst="roundRect">
            <a:avLst>
              <a:gd name="adj" fmla="val 5172"/>
            </a:avLst>
          </a:prstGeom>
          <a:solidFill>
            <a:srgbClr val="FFFFFF"/>
          </a:solidFill>
          <a:ln w="12700">
            <a:solidFill>
              <a:srgbClr val="E1E6EC"/>
            </a:solidFill>
            <a:prstDash val="solid"/>
          </a:ln>
        </p:spPr>
        <p:txBody>
          <a:bodyPr/>
          <a:p/>
        </p:txBody>
      </p:sp>
      <p:sp>
        <p:nvSpPr>
          <p:cNvPr id="24" name="Text 22"/>
          <p:cNvSpPr/>
          <p:nvPr/>
        </p:nvSpPr>
        <p:spPr>
          <a:xfrm>
            <a:off x="5312664" y="3557016"/>
            <a:ext cx="1764792" cy="384048"/>
          </a:xfrm>
          <a:prstGeom prst="rect">
            <a:avLst/>
          </a:prstGeom>
          <a:noFill/>
          <a:ln/>
        </p:spPr>
        <p:txBody>
          <a:bodyPr wrap="square" lIns="0" tIns="0" rIns="0" bIns="0" rtlCol="0" anchor="ctr"/>
          <a:lstStyle/>
          <a:p>
            <a:pPr algn="ctr" indent="0" marL="0">
              <a:buNone/>
            </a:pPr>
            <a:r>
              <a:rPr lang="en-US" sz="2500" b="1" dirty="0">
                <a:solidFill>
                  <a:srgbClr val="446F92"/>
                </a:solidFill>
                <a:latin typeface="Times New Roman" pitchFamily="34" charset="0"/>
                <a:ea typeface="Times New Roman" pitchFamily="34" charset="-122"/>
                <a:cs typeface="Times New Roman" pitchFamily="34" charset="-120"/>
              </a:rPr>
              <a:t>79</a:t>
            </a:r>
            <a:endParaRPr lang="en-US" sz="2500" dirty="0"/>
          </a:p>
        </p:txBody>
      </p:sp>
      <p:sp>
        <p:nvSpPr>
          <p:cNvPr id="25" name="Text 23"/>
          <p:cNvSpPr/>
          <p:nvPr/>
        </p:nvSpPr>
        <p:spPr>
          <a:xfrm>
            <a:off x="5312664" y="4050792"/>
            <a:ext cx="1764792" cy="246888"/>
          </a:xfrm>
          <a:prstGeom prst="rect">
            <a:avLst/>
          </a:prstGeom>
          <a:noFill/>
          <a:ln/>
        </p:spPr>
        <p:txBody>
          <a:bodyPr wrap="square" lIns="0" tIns="0" rIns="0" bIns="0" rtlCol="0" anchor="ctr"/>
          <a:lstStyle/>
          <a:p>
            <a:pPr algn="ctr" indent="0" marL="0">
              <a:buNone/>
            </a:pPr>
            <a:r>
              <a:rPr lang="en-US" sz="1050" dirty="0">
                <a:solidFill>
                  <a:srgbClr val="667085"/>
                </a:solidFill>
                <a:latin typeface="Times New Roman" pitchFamily="34" charset="0"/>
                <a:ea typeface="Times New Roman" pitchFamily="34" charset="-122"/>
                <a:cs typeface="Times New Roman" pitchFamily="34" charset="-120"/>
              </a:rPr>
              <a:t>biến đầu vào</a:t>
            </a:r>
            <a:endParaRPr lang="en-US" sz="1050" dirty="0"/>
          </a:p>
        </p:txBody>
      </p:sp>
      <p:sp>
        <p:nvSpPr>
          <p:cNvPr id="26" name="Shape 24"/>
          <p:cNvSpPr/>
          <p:nvPr/>
        </p:nvSpPr>
        <p:spPr>
          <a:xfrm>
            <a:off x="7360920" y="3429000"/>
            <a:ext cx="2057400" cy="1060704"/>
          </a:xfrm>
          <a:prstGeom prst="roundRect">
            <a:avLst>
              <a:gd name="adj" fmla="val 5172"/>
            </a:avLst>
          </a:prstGeom>
          <a:solidFill>
            <a:srgbClr val="FFFFFF"/>
          </a:solidFill>
          <a:ln w="12700">
            <a:solidFill>
              <a:srgbClr val="E1E6EC"/>
            </a:solidFill>
            <a:prstDash val="solid"/>
          </a:ln>
        </p:spPr>
        <p:txBody>
          <a:bodyPr/>
          <a:p/>
        </p:txBody>
      </p:sp>
      <p:sp>
        <p:nvSpPr>
          <p:cNvPr id="27" name="Text 25"/>
          <p:cNvSpPr/>
          <p:nvPr/>
        </p:nvSpPr>
        <p:spPr>
          <a:xfrm>
            <a:off x="7507224" y="3557016"/>
            <a:ext cx="1764792" cy="384048"/>
          </a:xfrm>
          <a:prstGeom prst="rect">
            <a:avLst/>
          </a:prstGeom>
          <a:noFill/>
          <a:ln/>
        </p:spPr>
        <p:txBody>
          <a:bodyPr wrap="square" lIns="0" tIns="0" rIns="0" bIns="0" rtlCol="0" anchor="ctr"/>
          <a:lstStyle/>
          <a:p>
            <a:pPr algn="ctr" indent="0" marL="0">
              <a:buNone/>
            </a:pPr>
            <a:r>
              <a:rPr lang="en-US" sz="2500" b="1" dirty="0">
                <a:solidFill>
                  <a:srgbClr val="3F7D5B"/>
                </a:solidFill>
                <a:latin typeface="Times New Roman" pitchFamily="34" charset="0"/>
                <a:ea typeface="Times New Roman" pitchFamily="34" charset="-122"/>
                <a:cs typeface="Times New Roman" pitchFamily="34" charset="-120"/>
              </a:rPr>
              <a:t>1</a:t>
            </a:r>
            <a:endParaRPr lang="en-US" sz="2500" dirty="0"/>
          </a:p>
        </p:txBody>
      </p:sp>
      <p:sp>
        <p:nvSpPr>
          <p:cNvPr id="28" name="Text 26"/>
          <p:cNvSpPr/>
          <p:nvPr/>
        </p:nvSpPr>
        <p:spPr>
          <a:xfrm>
            <a:off x="7507224" y="4050792"/>
            <a:ext cx="1764792" cy="246888"/>
          </a:xfrm>
          <a:prstGeom prst="rect">
            <a:avLst/>
          </a:prstGeom>
          <a:noFill/>
          <a:ln/>
        </p:spPr>
        <p:txBody>
          <a:bodyPr wrap="square" lIns="0" tIns="0" rIns="0" bIns="0" rtlCol="0" anchor="ctr"/>
          <a:lstStyle/>
          <a:p>
            <a:pPr algn="ctr" indent="0" marL="0">
              <a:buNone/>
            </a:pPr>
            <a:r>
              <a:rPr lang="en-US" sz="1050" dirty="0">
                <a:solidFill>
                  <a:srgbClr val="667085"/>
                </a:solidFill>
                <a:latin typeface="Times New Roman" pitchFamily="34" charset="0"/>
                <a:ea typeface="Times New Roman" pitchFamily="34" charset="-122"/>
                <a:cs typeface="Times New Roman" pitchFamily="34" charset="-120"/>
              </a:rPr>
              <a:t>biến mục tiêu</a:t>
            </a:r>
            <a:endParaRPr lang="en-US" sz="1050" dirty="0"/>
          </a:p>
        </p:txBody>
      </p:sp>
      <p:sp>
        <p:nvSpPr>
          <p:cNvPr id="29" name="Shape 27"/>
          <p:cNvSpPr/>
          <p:nvPr/>
        </p:nvSpPr>
        <p:spPr>
          <a:xfrm>
            <a:off x="9555480" y="3429000"/>
            <a:ext cx="2057400" cy="1060704"/>
          </a:xfrm>
          <a:prstGeom prst="roundRect">
            <a:avLst>
              <a:gd name="adj" fmla="val 5172"/>
            </a:avLst>
          </a:prstGeom>
          <a:solidFill>
            <a:srgbClr val="FFFFFF"/>
          </a:solidFill>
          <a:ln w="12700">
            <a:solidFill>
              <a:srgbClr val="E1E6EC"/>
            </a:solidFill>
            <a:prstDash val="solid"/>
          </a:ln>
        </p:spPr>
        <p:txBody>
          <a:bodyPr/>
          <a:p/>
        </p:txBody>
      </p:sp>
      <p:sp>
        <p:nvSpPr>
          <p:cNvPr id="30" name="Text 28"/>
          <p:cNvSpPr/>
          <p:nvPr/>
        </p:nvSpPr>
        <p:spPr>
          <a:xfrm>
            <a:off x="9701784" y="3557016"/>
            <a:ext cx="1764792" cy="384048"/>
          </a:xfrm>
          <a:prstGeom prst="rect">
            <a:avLst/>
          </a:prstGeom>
          <a:noFill/>
          <a:ln/>
        </p:spPr>
        <p:txBody>
          <a:bodyPr wrap="square" lIns="0" tIns="0" rIns="0" bIns="0" rtlCol="0" anchor="ctr"/>
          <a:lstStyle/>
          <a:p>
            <a:pPr algn="ctr" indent="0" marL="0">
              <a:buNone/>
            </a:pPr>
            <a:r>
              <a:rPr lang="en-US" sz="2500" b="1" dirty="0">
                <a:solidFill>
                  <a:srgbClr val="A77B2D"/>
                </a:solidFill>
                <a:latin typeface="Times New Roman" pitchFamily="34" charset="0"/>
                <a:ea typeface="Times New Roman" pitchFamily="34" charset="-122"/>
                <a:cs typeface="Times New Roman" pitchFamily="34" charset="-120"/>
              </a:rPr>
              <a:t>2006-2010</a:t>
            </a:r>
            <a:endParaRPr lang="en-US" sz="2500" dirty="0"/>
          </a:p>
        </p:txBody>
      </p:sp>
      <p:sp>
        <p:nvSpPr>
          <p:cNvPr id="31" name="Text 29"/>
          <p:cNvSpPr/>
          <p:nvPr/>
        </p:nvSpPr>
        <p:spPr>
          <a:xfrm>
            <a:off x="9701784" y="4050792"/>
            <a:ext cx="1764792" cy="246888"/>
          </a:xfrm>
          <a:prstGeom prst="rect">
            <a:avLst/>
          </a:prstGeom>
          <a:noFill/>
          <a:ln/>
        </p:spPr>
        <p:txBody>
          <a:bodyPr wrap="square" lIns="0" tIns="0" rIns="0" bIns="0" rtlCol="0" anchor="ctr"/>
          <a:lstStyle/>
          <a:p>
            <a:pPr algn="ctr" indent="0" marL="0">
              <a:buNone/>
            </a:pPr>
            <a:r>
              <a:rPr lang="en-US" sz="1050" dirty="0">
                <a:solidFill>
                  <a:srgbClr val="667085"/>
                </a:solidFill>
                <a:latin typeface="Times New Roman" pitchFamily="34" charset="0"/>
                <a:ea typeface="Times New Roman" pitchFamily="34" charset="-122"/>
                <a:cs typeface="Times New Roman" pitchFamily="34" charset="-120"/>
              </a:rPr>
              <a:t>giai đoạn dữ liệu</a:t>
            </a:r>
            <a:endParaRPr lang="en-US" sz="1050" dirty="0"/>
          </a:p>
        </p:txBody>
      </p:sp>
      <p:sp>
        <p:nvSpPr>
          <p:cNvPr id="32" name="Text 30"/>
          <p:cNvSpPr/>
          <p:nvPr/>
        </p:nvSpPr>
        <p:spPr>
          <a:xfrm>
            <a:off x="777240" y="4846320"/>
            <a:ext cx="2560320" cy="274320"/>
          </a:xfrm>
          <a:prstGeom prst="rect">
            <a:avLst/>
          </a:prstGeom>
          <a:noFill/>
          <a:ln/>
        </p:spPr>
        <p:txBody>
          <a:bodyPr wrap="square" lIns="0" tIns="0" rIns="0" bIns="0" rtlCol="0" anchor="ctr"/>
          <a:lstStyle/>
          <a:p>
            <a:pPr indent="0" marL="0">
              <a:buNone/>
            </a:pPr>
            <a:r>
              <a:rPr lang="en-US" sz="1600" b="1" dirty="0">
                <a:solidFill>
                  <a:srgbClr val="1F2937"/>
                </a:solidFill>
                <a:latin typeface="Times New Roman" pitchFamily="34" charset="0"/>
                <a:ea typeface="Times New Roman" pitchFamily="34" charset="-122"/>
                <a:cs typeface="Times New Roman" pitchFamily="34" charset="-120"/>
              </a:rPr>
              <a:t>Ý chính cần nhớ</a:t>
            </a:r>
            <a:endParaRPr lang="en-US" sz="1600" dirty="0"/>
          </a:p>
        </p:txBody>
      </p:sp>
      <p:sp>
        <p:nvSpPr>
          <p:cNvPr id="33" name="Text 31"/>
          <p:cNvSpPr/>
          <p:nvPr/>
        </p:nvSpPr>
        <p:spPr>
          <a:xfrm>
            <a:off x="777240" y="5239512"/>
            <a:ext cx="10287000" cy="640080"/>
          </a:xfrm>
          <a:prstGeom prst="rect">
            <a:avLst/>
          </a:prstGeom>
          <a:noFill/>
          <a:ln/>
        </p:spPr>
        <p:txBody>
          <a:bodyPr wrap="square" lIns="0" tIns="0" rIns="0" bIns="0" rtlCol="0" anchor="ctr">
            <a:normAutofit/>
          </a:bodyPr>
          <a:lstStyle/>
          <a:p>
            <a:pPr indent="0" marL="0">
              <a:buNone/>
            </a:pPr>
            <a:r>
              <a:rPr lang="en-US" sz="1600" dirty="0">
                <a:solidFill>
                  <a:srgbClr val="1F2937"/>
                </a:solidFill>
                <a:latin typeface="Times New Roman" pitchFamily="34" charset="0"/>
                <a:ea typeface="Times New Roman" pitchFamily="34" charset="-122"/>
                <a:cs typeface="Times New Roman" pitchFamily="34" charset="-120"/>
              </a:rPr>
              <a:t>EDA giúp nhóm biết dữ liệu đang có đặc điểm gì, có vấn đề gì và những biến nào đáng chú ý trước khi chuyển sang bước mô hình hóa.</a:t>
            </a:r>
            <a:endParaRPr lang="en-US" sz="16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566928" y="347472"/>
            <a:ext cx="10789920" cy="384048"/>
          </a:xfrm>
          <a:prstGeom prst="rect">
            <a:avLst/>
          </a:prstGeom>
          <a:noFill/>
          <a:ln/>
        </p:spPr>
        <p:txBody>
          <a:bodyPr wrap="square" lIns="0" tIns="0" rIns="0" bIns="0" rtlCol="0" anchor="ctr"/>
          <a:lstStyle/>
          <a:p>
            <a:pPr indent="0" marL="0">
              <a:buNone/>
            </a:pPr>
            <a:r>
              <a:rPr lang="en-US" sz="2700" b="1" dirty="0">
                <a:solidFill>
                  <a:srgbClr val="173B5E"/>
                </a:solidFill>
                <a:latin typeface="Times New Roman" pitchFamily="34" charset="0"/>
                <a:ea typeface="Times New Roman" pitchFamily="34" charset="-122"/>
                <a:cs typeface="Times New Roman" pitchFamily="34" charset="-120"/>
              </a:rPr>
              <a:t>2. Tổng quan dữ liệu</a:t>
            </a:r>
            <a:endParaRPr lang="en-US" sz="2700" dirty="0"/>
          </a:p>
        </p:txBody>
      </p:sp>
      <p:sp>
        <p:nvSpPr>
          <p:cNvPr id="3" name="Shape 1"/>
          <p:cNvSpPr/>
          <p:nvPr/>
        </p:nvSpPr>
        <p:spPr>
          <a:xfrm>
            <a:off x="566928" y="859536"/>
            <a:ext cx="731520" cy="0"/>
          </a:xfrm>
          <a:prstGeom prst="line">
            <a:avLst/>
          </a:prstGeom>
          <a:noFill/>
          <a:ln w="31750">
            <a:solidFill>
              <a:srgbClr val="B53B32"/>
            </a:solidFill>
            <a:prstDash val="solid"/>
          </a:ln>
        </p:spPr>
        <p:txBody>
          <a:bodyPr/>
          <a:p/>
        </p:txBody>
      </p:sp>
      <p:sp>
        <p:nvSpPr>
          <p:cNvPr id="4" name="Text 2"/>
          <p:cNvSpPr/>
          <p:nvPr/>
        </p:nvSpPr>
        <p:spPr>
          <a:xfrm>
            <a:off x="1389888" y="777240"/>
            <a:ext cx="9784080" cy="256032"/>
          </a:xfrm>
          <a:prstGeom prst="rect">
            <a:avLst/>
          </a:prstGeom>
          <a:noFill/>
          <a:ln/>
        </p:spPr>
        <p:txBody>
          <a:bodyPr wrap="square" lIns="0" tIns="0" rIns="0" bIns="0" rtlCol="0" anchor="ctr"/>
          <a:lstStyle/>
          <a:p>
            <a:pPr indent="0" marL="0">
              <a:buNone/>
            </a:pPr>
            <a:r>
              <a:rPr lang="en-US" sz="1100" dirty="0">
                <a:solidFill>
                  <a:srgbClr val="667085"/>
                </a:solidFill>
                <a:latin typeface="Times New Roman" pitchFamily="34" charset="0"/>
                <a:ea typeface="Times New Roman" pitchFamily="34" charset="-122"/>
                <a:cs typeface="Times New Roman" pitchFamily="34" charset="-120"/>
              </a:rPr>
              <a:t>Nhìn dữ liệu theo kiểu lưu trữ và theo ý nghĩa</a:t>
            </a:r>
            <a:endParaRPr lang="en-US" sz="1100" dirty="0"/>
          </a:p>
        </p:txBody>
      </p:sp>
      <p:pic>
        <p:nvPicPr>
          <p:cNvPr id="5" name="Image 0" descr="/mnt/data/_docx_unzip/word/media/a1d78ee1d9de3dd4376c01673ad1622cab97b777.png">    </p:cNvPr>
          <p:cNvPicPr>
            <a:picLocks noChangeAspect="1"/>
          </p:cNvPicPr>
          <p:nvPr/>
        </p:nvPicPr>
        <p:blipFill>
          <a:blip r:embed="rId1"/>
          <a:stretch>
            <a:fillRect/>
          </a:stretch>
        </p:blipFill>
        <p:spPr>
          <a:xfrm>
            <a:off x="6537960" y="1124712"/>
            <a:ext cx="4983480" cy="1993392"/>
          </a:xfrm>
          <a:prstGeom prst="rect">
            <a:avLst/>
          </a:prstGeom>
        </p:spPr>
      </p:pic>
      <p:sp>
        <p:nvSpPr>
          <p:cNvPr id="6" name="Shape 3"/>
          <p:cNvSpPr/>
          <p:nvPr/>
        </p:nvSpPr>
        <p:spPr>
          <a:xfrm>
            <a:off x="621792" y="1152144"/>
            <a:ext cx="2697480" cy="1508760"/>
          </a:xfrm>
          <a:prstGeom prst="roundRect">
            <a:avLst>
              <a:gd name="adj" fmla="val 3636"/>
            </a:avLst>
          </a:prstGeom>
          <a:solidFill>
            <a:srgbClr val="FFFFFF"/>
          </a:solidFill>
          <a:ln w="12700">
            <a:solidFill>
              <a:srgbClr val="E1E6EC"/>
            </a:solidFill>
            <a:prstDash val="solid"/>
          </a:ln>
        </p:spPr>
        <p:txBody>
          <a:bodyPr/>
          <a:p/>
        </p:txBody>
      </p:sp>
      <p:sp>
        <p:nvSpPr>
          <p:cNvPr id="7" name="Shape 4"/>
          <p:cNvSpPr/>
          <p:nvPr/>
        </p:nvSpPr>
        <p:spPr>
          <a:xfrm>
            <a:off x="621792" y="1152144"/>
            <a:ext cx="73152" cy="1508760"/>
          </a:xfrm>
          <a:prstGeom prst="rect">
            <a:avLst/>
          </a:prstGeom>
          <a:solidFill>
            <a:srgbClr val="173B5E"/>
          </a:solidFill>
          <a:ln w="12700">
            <a:solidFill>
              <a:srgbClr val="173B5E"/>
            </a:solidFill>
            <a:prstDash val="solid"/>
          </a:ln>
        </p:spPr>
        <p:txBody>
          <a:bodyPr/>
          <a:p/>
        </p:txBody>
      </p:sp>
      <p:sp>
        <p:nvSpPr>
          <p:cNvPr id="8" name="Text 5"/>
          <p:cNvSpPr/>
          <p:nvPr/>
        </p:nvSpPr>
        <p:spPr>
          <a:xfrm>
            <a:off x="822960" y="1298448"/>
            <a:ext cx="2331720" cy="256032"/>
          </a:xfrm>
          <a:prstGeom prst="rect">
            <a:avLst/>
          </a:prstGeom>
          <a:noFill/>
          <a:ln/>
        </p:spPr>
        <p:txBody>
          <a:bodyPr wrap="square" lIns="0" tIns="0" rIns="0" bIns="0" rtlCol="0" anchor="ctr"/>
          <a:lstStyle/>
          <a:p>
            <a:pPr indent="0" marL="0">
              <a:buNone/>
            </a:pPr>
            <a:r>
              <a:rPr lang="en-US" sz="1500" b="1" dirty="0">
                <a:solidFill>
                  <a:srgbClr val="1F2937"/>
                </a:solidFill>
                <a:latin typeface="Times New Roman" pitchFamily="34" charset="0"/>
                <a:ea typeface="Times New Roman" pitchFamily="34" charset="-122"/>
                <a:cs typeface="Times New Roman" pitchFamily="34" charset="-120"/>
              </a:rPr>
              <a:t>38 biến numeric</a:t>
            </a:r>
            <a:endParaRPr lang="en-US" sz="1500" dirty="0"/>
          </a:p>
        </p:txBody>
      </p:sp>
      <p:sp>
        <p:nvSpPr>
          <p:cNvPr id="9" name="Text 6"/>
          <p:cNvSpPr/>
          <p:nvPr/>
        </p:nvSpPr>
        <p:spPr>
          <a:xfrm>
            <a:off x="822960" y="1636776"/>
            <a:ext cx="2350008" cy="886968"/>
          </a:xfrm>
          <a:prstGeom prst="rect">
            <a:avLst/>
          </a:prstGeom>
          <a:noFill/>
          <a:ln/>
        </p:spPr>
        <p:txBody>
          <a:bodyPr wrap="square" lIns="254" tIns="254" rIns="254" bIns="254" rtlCol="0" anchor="t">
            <a:normAutofit/>
          </a:bodyPr>
          <a:lstStyle/>
          <a:p>
            <a:pPr indent="0" marL="0">
              <a:buNone/>
            </a:pPr>
            <a:r>
              <a:rPr lang="en-US" sz="1250" dirty="0">
                <a:solidFill>
                  <a:srgbClr val="1F2937"/>
                </a:solidFill>
                <a:latin typeface="Times New Roman" pitchFamily="34" charset="0"/>
                <a:ea typeface="Times New Roman" pitchFamily="34" charset="-122"/>
                <a:cs typeface="Times New Roman" pitchFamily="34" charset="-120"/>
              </a:rPr>
              <a:t>Gồm diện tích, số lượng, giá bán và một số biến lưu dạng số nhưng có bản chất thứ bậc hoặc mã nhóm.</a:t>
            </a:r>
            <a:endParaRPr lang="en-US" sz="1250" dirty="0"/>
          </a:p>
        </p:txBody>
      </p:sp>
      <p:sp>
        <p:nvSpPr>
          <p:cNvPr id="10" name="Shape 7"/>
          <p:cNvSpPr/>
          <p:nvPr/>
        </p:nvSpPr>
        <p:spPr>
          <a:xfrm>
            <a:off x="621792" y="2816352"/>
            <a:ext cx="2697480" cy="1508760"/>
          </a:xfrm>
          <a:prstGeom prst="roundRect">
            <a:avLst>
              <a:gd name="adj" fmla="val 3636"/>
            </a:avLst>
          </a:prstGeom>
          <a:solidFill>
            <a:srgbClr val="FFFFFF"/>
          </a:solidFill>
          <a:ln w="12700">
            <a:solidFill>
              <a:srgbClr val="E1E6EC"/>
            </a:solidFill>
            <a:prstDash val="solid"/>
          </a:ln>
        </p:spPr>
        <p:txBody>
          <a:bodyPr/>
          <a:p/>
        </p:txBody>
      </p:sp>
      <p:sp>
        <p:nvSpPr>
          <p:cNvPr id="11" name="Shape 8"/>
          <p:cNvSpPr/>
          <p:nvPr/>
        </p:nvSpPr>
        <p:spPr>
          <a:xfrm>
            <a:off x="621792" y="2816352"/>
            <a:ext cx="73152" cy="1508760"/>
          </a:xfrm>
          <a:prstGeom prst="rect">
            <a:avLst/>
          </a:prstGeom>
          <a:solidFill>
            <a:srgbClr val="B53B32"/>
          </a:solidFill>
          <a:ln w="12700">
            <a:solidFill>
              <a:srgbClr val="B53B32"/>
            </a:solidFill>
            <a:prstDash val="solid"/>
          </a:ln>
        </p:spPr>
        <p:txBody>
          <a:bodyPr/>
          <a:p/>
        </p:txBody>
      </p:sp>
      <p:sp>
        <p:nvSpPr>
          <p:cNvPr id="12" name="Text 9"/>
          <p:cNvSpPr/>
          <p:nvPr/>
        </p:nvSpPr>
        <p:spPr>
          <a:xfrm>
            <a:off x="822960" y="2962656"/>
            <a:ext cx="2331720" cy="256032"/>
          </a:xfrm>
          <a:prstGeom prst="rect">
            <a:avLst/>
          </a:prstGeom>
          <a:noFill/>
          <a:ln/>
        </p:spPr>
        <p:txBody>
          <a:bodyPr wrap="square" lIns="0" tIns="0" rIns="0" bIns="0" rtlCol="0" anchor="ctr"/>
          <a:lstStyle/>
          <a:p>
            <a:pPr indent="0" marL="0">
              <a:buNone/>
            </a:pPr>
            <a:r>
              <a:rPr lang="en-US" sz="1500" b="1" dirty="0">
                <a:solidFill>
                  <a:srgbClr val="1F2937"/>
                </a:solidFill>
                <a:latin typeface="Times New Roman" pitchFamily="34" charset="0"/>
                <a:ea typeface="Times New Roman" pitchFamily="34" charset="-122"/>
                <a:cs typeface="Times New Roman" pitchFamily="34" charset="-120"/>
              </a:rPr>
              <a:t>43 biến categorical</a:t>
            </a:r>
            <a:endParaRPr lang="en-US" sz="1500" dirty="0"/>
          </a:p>
        </p:txBody>
      </p:sp>
      <p:sp>
        <p:nvSpPr>
          <p:cNvPr id="13" name="Text 10"/>
          <p:cNvSpPr/>
          <p:nvPr/>
        </p:nvSpPr>
        <p:spPr>
          <a:xfrm>
            <a:off x="822960" y="3300984"/>
            <a:ext cx="2350008" cy="886968"/>
          </a:xfrm>
          <a:prstGeom prst="rect">
            <a:avLst/>
          </a:prstGeom>
          <a:noFill/>
          <a:ln/>
        </p:spPr>
        <p:txBody>
          <a:bodyPr wrap="square" lIns="254" tIns="254" rIns="254" bIns="254" rtlCol="0" anchor="t">
            <a:normAutofit/>
          </a:bodyPr>
          <a:lstStyle/>
          <a:p>
            <a:pPr indent="0" marL="0">
              <a:buNone/>
            </a:pPr>
            <a:r>
              <a:rPr lang="en-US" sz="1250" dirty="0">
                <a:solidFill>
                  <a:srgbClr val="1F2937"/>
                </a:solidFill>
                <a:latin typeface="Times New Roman" pitchFamily="34" charset="0"/>
                <a:ea typeface="Times New Roman" pitchFamily="34" charset="-122"/>
                <a:cs typeface="Times New Roman" pitchFamily="34" charset="-120"/>
              </a:rPr>
              <a:t>Mô tả vị trí, kiểu nhà, vật liệu, chất lượng và các đặc điểm theo nhóm.</a:t>
            </a:r>
            <a:endParaRPr lang="en-US" sz="1250" dirty="0"/>
          </a:p>
        </p:txBody>
      </p:sp>
      <p:sp>
        <p:nvSpPr>
          <p:cNvPr id="14" name="Shape 11"/>
          <p:cNvSpPr/>
          <p:nvPr/>
        </p:nvSpPr>
        <p:spPr>
          <a:xfrm>
            <a:off x="621792" y="4480560"/>
            <a:ext cx="5440680" cy="1078992"/>
          </a:xfrm>
          <a:prstGeom prst="roundRect">
            <a:avLst>
              <a:gd name="adj" fmla="val 5085"/>
            </a:avLst>
          </a:prstGeom>
          <a:solidFill>
            <a:srgbClr val="FFFFFF"/>
          </a:solidFill>
          <a:ln w="12700">
            <a:solidFill>
              <a:srgbClr val="E1E6EC"/>
            </a:solidFill>
            <a:prstDash val="solid"/>
          </a:ln>
        </p:spPr>
        <p:txBody>
          <a:bodyPr/>
          <a:p/>
        </p:txBody>
      </p:sp>
      <p:sp>
        <p:nvSpPr>
          <p:cNvPr id="15" name="Shape 12"/>
          <p:cNvSpPr/>
          <p:nvPr/>
        </p:nvSpPr>
        <p:spPr>
          <a:xfrm>
            <a:off x="621792" y="4480560"/>
            <a:ext cx="73152" cy="1078992"/>
          </a:xfrm>
          <a:prstGeom prst="rect">
            <a:avLst/>
          </a:prstGeom>
          <a:solidFill>
            <a:srgbClr val="3F7D5B"/>
          </a:solidFill>
          <a:ln w="12700">
            <a:solidFill>
              <a:srgbClr val="3F7D5B"/>
            </a:solidFill>
            <a:prstDash val="solid"/>
          </a:ln>
        </p:spPr>
        <p:txBody>
          <a:bodyPr/>
          <a:p/>
        </p:txBody>
      </p:sp>
      <p:sp>
        <p:nvSpPr>
          <p:cNvPr id="16" name="Text 13"/>
          <p:cNvSpPr/>
          <p:nvPr/>
        </p:nvSpPr>
        <p:spPr>
          <a:xfrm>
            <a:off x="822960" y="4626864"/>
            <a:ext cx="5074920" cy="256032"/>
          </a:xfrm>
          <a:prstGeom prst="rect">
            <a:avLst/>
          </a:prstGeom>
          <a:noFill/>
          <a:ln/>
        </p:spPr>
        <p:txBody>
          <a:bodyPr wrap="square" lIns="0" tIns="0" rIns="0" bIns="0" rtlCol="0" anchor="ctr"/>
          <a:lstStyle/>
          <a:p>
            <a:pPr indent="0" marL="0">
              <a:buNone/>
            </a:pPr>
            <a:r>
              <a:rPr lang="en-US" sz="1500" b="1" dirty="0">
                <a:solidFill>
                  <a:srgbClr val="1F2937"/>
                </a:solidFill>
                <a:latin typeface="Times New Roman" pitchFamily="34" charset="0"/>
                <a:ea typeface="Times New Roman" pitchFamily="34" charset="-122"/>
                <a:cs typeface="Times New Roman" pitchFamily="34" charset="-120"/>
              </a:rPr>
              <a:t>Không có bản ghi trùng</a:t>
            </a:r>
            <a:endParaRPr lang="en-US" sz="1500" dirty="0"/>
          </a:p>
        </p:txBody>
      </p:sp>
      <p:sp>
        <p:nvSpPr>
          <p:cNvPr id="17" name="Text 14"/>
          <p:cNvSpPr/>
          <p:nvPr/>
        </p:nvSpPr>
        <p:spPr>
          <a:xfrm>
            <a:off x="822960" y="4965192"/>
            <a:ext cx="5093208" cy="457200"/>
          </a:xfrm>
          <a:prstGeom prst="rect">
            <a:avLst/>
          </a:prstGeom>
          <a:noFill/>
          <a:ln/>
        </p:spPr>
        <p:txBody>
          <a:bodyPr wrap="square" lIns="254" tIns="254" rIns="254" bIns="254" rtlCol="0" anchor="t">
            <a:normAutofit/>
          </a:bodyPr>
          <a:lstStyle/>
          <a:p>
            <a:pPr indent="0" marL="0">
              <a:buNone/>
            </a:pPr>
            <a:r>
              <a:rPr lang="en-US" sz="1250" dirty="0">
                <a:solidFill>
                  <a:srgbClr val="1F2937"/>
                </a:solidFill>
                <a:latin typeface="Times New Roman" pitchFamily="34" charset="0"/>
                <a:ea typeface="Times New Roman" pitchFamily="34" charset="-122"/>
                <a:cs typeface="Times New Roman" pitchFamily="34" charset="-120"/>
              </a:rPr>
              <a:t>Kiểm tra toàn bộ dòng và cột Id đều không phát hiện trùng. Id chủ yếu dùng để nhận diện quan sát.</a:t>
            </a:r>
            <a:endParaRPr lang="en-US" sz="1250" dirty="0"/>
          </a:p>
        </p:txBody>
      </p:sp>
      <p:sp>
        <p:nvSpPr>
          <p:cNvPr id="18" name="Shape 15"/>
          <p:cNvSpPr/>
          <p:nvPr/>
        </p:nvSpPr>
        <p:spPr>
          <a:xfrm>
            <a:off x="6537960" y="3429000"/>
            <a:ext cx="4983480" cy="2139696"/>
          </a:xfrm>
          <a:prstGeom prst="roundRect">
            <a:avLst>
              <a:gd name="adj" fmla="val 2564"/>
            </a:avLst>
          </a:prstGeom>
          <a:solidFill>
            <a:srgbClr val="FFFFFF"/>
          </a:solidFill>
          <a:ln w="12700">
            <a:solidFill>
              <a:srgbClr val="E1E6EC"/>
            </a:solidFill>
            <a:prstDash val="solid"/>
          </a:ln>
        </p:spPr>
        <p:txBody>
          <a:bodyPr/>
          <a:p/>
        </p:txBody>
      </p:sp>
      <p:sp>
        <p:nvSpPr>
          <p:cNvPr id="19" name="Text 16"/>
          <p:cNvSpPr/>
          <p:nvPr/>
        </p:nvSpPr>
        <p:spPr>
          <a:xfrm>
            <a:off x="6784848" y="3675888"/>
            <a:ext cx="2194560" cy="256032"/>
          </a:xfrm>
          <a:prstGeom prst="rect">
            <a:avLst/>
          </a:prstGeom>
          <a:noFill/>
          <a:ln/>
        </p:spPr>
        <p:txBody>
          <a:bodyPr wrap="square" lIns="0" tIns="0" rIns="0" bIns="0" rtlCol="0" anchor="ctr"/>
          <a:lstStyle/>
          <a:p>
            <a:pPr indent="0" marL="0">
              <a:buNone/>
            </a:pPr>
            <a:r>
              <a:rPr lang="en-US" sz="1500" b="1" dirty="0">
                <a:solidFill>
                  <a:srgbClr val="1F2937"/>
                </a:solidFill>
                <a:latin typeface="Times New Roman" pitchFamily="34" charset="0"/>
                <a:ea typeface="Times New Roman" pitchFamily="34" charset="-122"/>
                <a:cs typeface="Times New Roman" pitchFamily="34" charset="-120"/>
              </a:rPr>
              <a:t>Ví dụ cần phân biệt</a:t>
            </a:r>
            <a:endParaRPr lang="en-US" sz="1500" dirty="0"/>
          </a:p>
        </p:txBody>
      </p:sp>
      <p:sp>
        <p:nvSpPr>
          <p:cNvPr id="20" name="Shape 17"/>
          <p:cNvSpPr/>
          <p:nvPr/>
        </p:nvSpPr>
        <p:spPr>
          <a:xfrm>
            <a:off x="6793992" y="4114800"/>
            <a:ext cx="1572768" cy="347472"/>
          </a:xfrm>
          <a:prstGeom prst="roundRect">
            <a:avLst>
              <a:gd name="adj" fmla="val 21053"/>
            </a:avLst>
          </a:prstGeom>
          <a:solidFill>
            <a:srgbClr val="173B5E"/>
          </a:solidFill>
          <a:ln w="12700">
            <a:solidFill>
              <a:srgbClr val="173B5E"/>
            </a:solidFill>
            <a:prstDash val="solid"/>
          </a:ln>
        </p:spPr>
        <p:txBody>
          <a:bodyPr/>
          <a:p/>
        </p:txBody>
      </p:sp>
      <p:sp>
        <p:nvSpPr>
          <p:cNvPr id="21" name="Text 18"/>
          <p:cNvSpPr/>
          <p:nvPr/>
        </p:nvSpPr>
        <p:spPr>
          <a:xfrm>
            <a:off x="6867144" y="4187952"/>
            <a:ext cx="1426464" cy="182880"/>
          </a:xfrm>
          <a:prstGeom prst="rect">
            <a:avLst/>
          </a:prstGeom>
          <a:noFill/>
          <a:ln/>
        </p:spPr>
        <p:txBody>
          <a:bodyPr wrap="square" lIns="0" tIns="0" rIns="0" bIns="0" rtlCol="0" anchor="ctr"/>
          <a:lstStyle/>
          <a:p>
            <a:pPr algn="ctr" indent="0" marL="0">
              <a:buNone/>
            </a:pPr>
            <a:r>
              <a:rPr lang="en-US" sz="1100" b="1" dirty="0">
                <a:solidFill>
                  <a:srgbClr val="FFFFFF"/>
                </a:solidFill>
                <a:latin typeface="Times New Roman" pitchFamily="34" charset="0"/>
                <a:ea typeface="Times New Roman" pitchFamily="34" charset="-122"/>
                <a:cs typeface="Times New Roman" pitchFamily="34" charset="-120"/>
              </a:rPr>
              <a:t>OverallQual</a:t>
            </a:r>
            <a:endParaRPr lang="en-US" sz="1100" dirty="0"/>
          </a:p>
        </p:txBody>
      </p:sp>
      <p:sp>
        <p:nvSpPr>
          <p:cNvPr id="22" name="Shape 19"/>
          <p:cNvSpPr/>
          <p:nvPr/>
        </p:nvSpPr>
        <p:spPr>
          <a:xfrm>
            <a:off x="8467344" y="4114800"/>
            <a:ext cx="1444752" cy="347472"/>
          </a:xfrm>
          <a:prstGeom prst="roundRect">
            <a:avLst>
              <a:gd name="adj" fmla="val 21053"/>
            </a:avLst>
          </a:prstGeom>
          <a:solidFill>
            <a:srgbClr val="446F92"/>
          </a:solidFill>
          <a:ln w="12700">
            <a:solidFill>
              <a:srgbClr val="446F92"/>
            </a:solidFill>
            <a:prstDash val="solid"/>
          </a:ln>
        </p:spPr>
        <p:txBody>
          <a:bodyPr/>
          <a:p/>
        </p:txBody>
      </p:sp>
      <p:sp>
        <p:nvSpPr>
          <p:cNvPr id="23" name="Text 20"/>
          <p:cNvSpPr/>
          <p:nvPr/>
        </p:nvSpPr>
        <p:spPr>
          <a:xfrm>
            <a:off x="8540496" y="4187952"/>
            <a:ext cx="1298448" cy="182880"/>
          </a:xfrm>
          <a:prstGeom prst="rect">
            <a:avLst/>
          </a:prstGeom>
          <a:noFill/>
          <a:ln/>
        </p:spPr>
        <p:txBody>
          <a:bodyPr wrap="square" lIns="0" tIns="0" rIns="0" bIns="0" rtlCol="0" anchor="ctr"/>
          <a:lstStyle/>
          <a:p>
            <a:pPr algn="ctr" indent="0" marL="0">
              <a:buNone/>
            </a:pPr>
            <a:r>
              <a:rPr lang="en-US" sz="1100" b="1" dirty="0">
                <a:solidFill>
                  <a:srgbClr val="FFFFFF"/>
                </a:solidFill>
                <a:latin typeface="Times New Roman" pitchFamily="34" charset="0"/>
                <a:ea typeface="Times New Roman" pitchFamily="34" charset="-122"/>
                <a:cs typeface="Times New Roman" pitchFamily="34" charset="-120"/>
              </a:rPr>
              <a:t>MSSubClass</a:t>
            </a:r>
            <a:endParaRPr lang="en-US" sz="1100" dirty="0"/>
          </a:p>
        </p:txBody>
      </p:sp>
      <p:sp>
        <p:nvSpPr>
          <p:cNvPr id="24" name="Text 21"/>
          <p:cNvSpPr/>
          <p:nvPr/>
        </p:nvSpPr>
        <p:spPr>
          <a:xfrm>
            <a:off x="6793992" y="4590288"/>
            <a:ext cx="4407408" cy="658368"/>
          </a:xfrm>
          <a:prstGeom prst="rect">
            <a:avLst/>
          </a:prstGeom>
          <a:noFill/>
          <a:ln/>
        </p:spPr>
        <p:txBody>
          <a:bodyPr wrap="square" lIns="0" tIns="0" rIns="0" bIns="0" rtlCol="0" anchor="ctr">
            <a:normAutofit/>
          </a:bodyPr>
          <a:lstStyle/>
          <a:p>
            <a:pPr indent="0" marL="0">
              <a:buNone/>
            </a:pPr>
            <a:r>
              <a:rPr lang="en-US" sz="1250" dirty="0">
                <a:solidFill>
                  <a:srgbClr val="1F2937"/>
                </a:solidFill>
                <a:latin typeface="Times New Roman" pitchFamily="34" charset="0"/>
                <a:ea typeface="Times New Roman" pitchFamily="34" charset="-122"/>
                <a:cs typeface="Times New Roman" pitchFamily="34" charset="-120"/>
              </a:rPr>
              <a:t>Đều được Python đọc là số, nhưng cần xem theo ý nghĩa: OverallQual là mức chất lượng theo thang điểm, còn MSSubClass là mã phân loại.</a:t>
            </a:r>
            <a:endParaRPr lang="en-US" sz="12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566928" y="347472"/>
            <a:ext cx="10789920" cy="384048"/>
          </a:xfrm>
          <a:prstGeom prst="rect">
            <a:avLst/>
          </a:prstGeom>
          <a:noFill/>
          <a:ln/>
        </p:spPr>
        <p:txBody>
          <a:bodyPr wrap="square" lIns="0" tIns="0" rIns="0" bIns="0" rtlCol="0" anchor="ctr"/>
          <a:lstStyle/>
          <a:p>
            <a:pPr indent="0" marL="0">
              <a:buNone/>
            </a:pPr>
            <a:r>
              <a:rPr lang="en-US" sz="2700" b="1" dirty="0">
                <a:solidFill>
                  <a:srgbClr val="173B5E"/>
                </a:solidFill>
                <a:latin typeface="Times New Roman" pitchFamily="34" charset="0"/>
                <a:ea typeface="Times New Roman" pitchFamily="34" charset="-122"/>
                <a:cs typeface="Times New Roman" pitchFamily="34" charset="-120"/>
              </a:rPr>
              <a:t>3. Phân tích đơn biến: SalePrice</a:t>
            </a:r>
            <a:endParaRPr lang="en-US" sz="2700" dirty="0"/>
          </a:p>
        </p:txBody>
      </p:sp>
      <p:sp>
        <p:nvSpPr>
          <p:cNvPr id="3" name="Shape 1"/>
          <p:cNvSpPr/>
          <p:nvPr/>
        </p:nvSpPr>
        <p:spPr>
          <a:xfrm>
            <a:off x="566928" y="859536"/>
            <a:ext cx="731520" cy="0"/>
          </a:xfrm>
          <a:prstGeom prst="line">
            <a:avLst/>
          </a:prstGeom>
          <a:noFill/>
          <a:ln w="31750">
            <a:solidFill>
              <a:srgbClr val="B53B32"/>
            </a:solidFill>
            <a:prstDash val="solid"/>
          </a:ln>
        </p:spPr>
        <p:txBody>
          <a:bodyPr/>
          <a:p/>
        </p:txBody>
      </p:sp>
      <p:sp>
        <p:nvSpPr>
          <p:cNvPr id="4" name="Text 2"/>
          <p:cNvSpPr/>
          <p:nvPr/>
        </p:nvSpPr>
        <p:spPr>
          <a:xfrm>
            <a:off x="1389888" y="777240"/>
            <a:ext cx="9784080" cy="256032"/>
          </a:xfrm>
          <a:prstGeom prst="rect">
            <a:avLst/>
          </a:prstGeom>
          <a:noFill/>
          <a:ln/>
        </p:spPr>
        <p:txBody>
          <a:bodyPr wrap="square" lIns="0" tIns="0" rIns="0" bIns="0" rtlCol="0" anchor="ctr"/>
          <a:lstStyle/>
          <a:p>
            <a:pPr indent="0" marL="0">
              <a:buNone/>
            </a:pPr>
            <a:r>
              <a:rPr lang="en-US" sz="1100" dirty="0">
                <a:solidFill>
                  <a:srgbClr val="667085"/>
                </a:solidFill>
                <a:latin typeface="Times New Roman" pitchFamily="34" charset="0"/>
                <a:ea typeface="Times New Roman" pitchFamily="34" charset="-122"/>
                <a:cs typeface="Times New Roman" pitchFamily="34" charset="-120"/>
              </a:rPr>
              <a:t>Xem phân phối và độ lệch của biến mục tiêu</a:t>
            </a:r>
            <a:endParaRPr lang="en-US" sz="1100" dirty="0"/>
          </a:p>
        </p:txBody>
      </p:sp>
      <p:pic>
        <p:nvPicPr>
          <p:cNvPr id="5" name="Image 0" descr="/mnt/data/_docx_unzip/word/media/383abac50ee915e9cd339c74ea6774cbefe96fd8.png">    </p:cNvPr>
          <p:cNvPicPr>
            <a:picLocks noChangeAspect="1"/>
          </p:cNvPicPr>
          <p:nvPr/>
        </p:nvPicPr>
        <p:blipFill>
          <a:blip r:embed="rId1"/>
          <a:stretch>
            <a:fillRect/>
          </a:stretch>
        </p:blipFill>
        <p:spPr>
          <a:xfrm>
            <a:off x="658368" y="1234440"/>
            <a:ext cx="6583680" cy="2642616"/>
          </a:xfrm>
          <a:prstGeom prst="rect">
            <a:avLst/>
          </a:prstGeom>
        </p:spPr>
      </p:pic>
      <p:sp>
        <p:nvSpPr>
          <p:cNvPr id="6" name="Shape 3"/>
          <p:cNvSpPr/>
          <p:nvPr/>
        </p:nvSpPr>
        <p:spPr>
          <a:xfrm>
            <a:off x="7498080" y="1252728"/>
            <a:ext cx="3959352" cy="2615184"/>
          </a:xfrm>
          <a:prstGeom prst="roundRect">
            <a:avLst>
              <a:gd name="adj" fmla="val 2098"/>
            </a:avLst>
          </a:prstGeom>
          <a:solidFill>
            <a:srgbClr val="FFFFFF"/>
          </a:solidFill>
          <a:ln w="12700">
            <a:solidFill>
              <a:srgbClr val="E1E6EC"/>
            </a:solidFill>
            <a:prstDash val="solid"/>
          </a:ln>
        </p:spPr>
        <p:txBody>
          <a:bodyPr/>
          <a:p/>
        </p:txBody>
      </p:sp>
      <p:sp>
        <p:nvSpPr>
          <p:cNvPr id="7" name="Text 4"/>
          <p:cNvSpPr/>
          <p:nvPr/>
        </p:nvSpPr>
        <p:spPr>
          <a:xfrm>
            <a:off x="7754112" y="1481328"/>
            <a:ext cx="2194560" cy="274320"/>
          </a:xfrm>
          <a:prstGeom prst="rect">
            <a:avLst/>
          </a:prstGeom>
          <a:noFill/>
          <a:ln/>
        </p:spPr>
        <p:txBody>
          <a:bodyPr wrap="square" lIns="0" tIns="0" rIns="0" bIns="0" rtlCol="0" anchor="ctr"/>
          <a:lstStyle/>
          <a:p>
            <a:pPr indent="0" marL="0">
              <a:buNone/>
            </a:pPr>
            <a:r>
              <a:rPr lang="en-US" sz="1700" b="1" dirty="0">
                <a:solidFill>
                  <a:srgbClr val="1F2937"/>
                </a:solidFill>
                <a:latin typeface="Times New Roman" pitchFamily="34" charset="0"/>
                <a:ea typeface="Times New Roman" pitchFamily="34" charset="-122"/>
                <a:cs typeface="Times New Roman" pitchFamily="34" charset="-120"/>
              </a:rPr>
              <a:t>Kết quả chính</a:t>
            </a:r>
            <a:endParaRPr lang="en-US" sz="1700" dirty="0"/>
          </a:p>
        </p:txBody>
      </p:sp>
      <p:sp>
        <p:nvSpPr>
          <p:cNvPr id="8" name="Text 5"/>
          <p:cNvSpPr/>
          <p:nvPr/>
        </p:nvSpPr>
        <p:spPr>
          <a:xfrm>
            <a:off x="7754112" y="1901952"/>
            <a:ext cx="3200400" cy="1124712"/>
          </a:xfrm>
          <a:prstGeom prst="rect">
            <a:avLst/>
          </a:prstGeom>
          <a:noFill/>
          <a:ln/>
        </p:spPr>
        <p:txBody>
          <a:bodyPr wrap="square" lIns="0" tIns="0" rIns="0" bIns="0" rtlCol="0" anchor="ctr"/>
          <a:lstStyle/>
          <a:p>
            <a:pPr indent="0" marL="0">
              <a:buNone/>
            </a:pPr>
            <a:r>
              <a:rPr lang="en-US" sz="1400" dirty="0">
                <a:solidFill>
                  <a:srgbClr val="1F2937"/>
                </a:solidFill>
                <a:latin typeface="Times New Roman" pitchFamily="34" charset="0"/>
                <a:ea typeface="Times New Roman" pitchFamily="34" charset="-122"/>
                <a:cs typeface="Times New Roman" pitchFamily="34" charset="-120"/>
              </a:rPr>
              <a:t>• Min: 34.900 USD</a:t>
            </a:r>
            <a:endParaRPr lang="en-US" sz="1400" dirty="0"/>
          </a:p>
          <a:p>
            <a:pPr indent="0" marL="0">
              <a:buNone/>
            </a:pPr>
            <a:r>
              <a:rPr lang="en-US" sz="1400" dirty="0">
                <a:solidFill>
                  <a:srgbClr val="1F2937"/>
                </a:solidFill>
                <a:latin typeface="Times New Roman" pitchFamily="34" charset="0"/>
                <a:ea typeface="Times New Roman" pitchFamily="34" charset="-122"/>
                <a:cs typeface="Times New Roman" pitchFamily="34" charset="-120"/>
              </a:rPr>
              <a:t>• Max: 755.000 USD</a:t>
            </a:r>
            <a:endParaRPr lang="en-US" sz="1400" dirty="0"/>
          </a:p>
          <a:p>
            <a:pPr indent="0" marL="0">
              <a:buNone/>
            </a:pPr>
            <a:r>
              <a:rPr lang="en-US" sz="1400" dirty="0">
                <a:solidFill>
                  <a:srgbClr val="1F2937"/>
                </a:solidFill>
                <a:latin typeface="Times New Roman" pitchFamily="34" charset="0"/>
                <a:ea typeface="Times New Roman" pitchFamily="34" charset="-122"/>
                <a:cs typeface="Times New Roman" pitchFamily="34" charset="-120"/>
              </a:rPr>
              <a:t>• Trung bình: khoảng 180.921 USD</a:t>
            </a:r>
            <a:endParaRPr lang="en-US" sz="1400" dirty="0"/>
          </a:p>
          <a:p>
            <a:pPr indent="0" marL="0">
              <a:buNone/>
            </a:pPr>
            <a:r>
              <a:rPr lang="en-US" sz="1400" dirty="0">
                <a:solidFill>
                  <a:srgbClr val="1F2937"/>
                </a:solidFill>
                <a:latin typeface="Times New Roman" pitchFamily="34" charset="0"/>
                <a:ea typeface="Times New Roman" pitchFamily="34" charset="-122"/>
                <a:cs typeface="Times New Roman" pitchFamily="34" charset="-120"/>
              </a:rPr>
              <a:t>• Trung vị: 163.000 USD</a:t>
            </a:r>
            <a:endParaRPr lang="en-US" sz="1400" dirty="0"/>
          </a:p>
          <a:p>
            <a:pPr indent="0" marL="0">
              <a:buNone/>
            </a:pPr>
            <a:r>
              <a:rPr lang="en-US" sz="1400" dirty="0">
                <a:solidFill>
                  <a:srgbClr val="1F2937"/>
                </a:solidFill>
                <a:latin typeface="Times New Roman" pitchFamily="34" charset="0"/>
                <a:ea typeface="Times New Roman" pitchFamily="34" charset="-122"/>
                <a:cs typeface="Times New Roman" pitchFamily="34" charset="-120"/>
              </a:rPr>
              <a:t>• Skewness = 1,88 (sau log: 0,12)</a:t>
            </a:r>
            <a:endParaRPr lang="en-US" sz="1400" dirty="0"/>
          </a:p>
        </p:txBody>
      </p:sp>
      <p:sp>
        <p:nvSpPr>
          <p:cNvPr id="9" name="Text 6"/>
          <p:cNvSpPr/>
          <p:nvPr/>
        </p:nvSpPr>
        <p:spPr>
          <a:xfrm>
            <a:off x="694944" y="4206240"/>
            <a:ext cx="1097280" cy="274320"/>
          </a:xfrm>
          <a:prstGeom prst="rect">
            <a:avLst/>
          </a:prstGeom>
          <a:noFill/>
          <a:ln/>
        </p:spPr>
        <p:txBody>
          <a:bodyPr wrap="square" lIns="0" tIns="0" rIns="0" bIns="0" rtlCol="0" anchor="ctr"/>
          <a:lstStyle/>
          <a:p>
            <a:pPr indent="0" marL="0">
              <a:buNone/>
            </a:pPr>
            <a:r>
              <a:rPr lang="en-US" sz="1700" b="1" dirty="0">
                <a:solidFill>
                  <a:srgbClr val="173B5E"/>
                </a:solidFill>
                <a:latin typeface="Times New Roman" pitchFamily="34" charset="0"/>
                <a:ea typeface="Times New Roman" pitchFamily="34" charset="-122"/>
                <a:cs typeface="Times New Roman" pitchFamily="34" charset="-120"/>
              </a:rPr>
              <a:t>Nhận xét</a:t>
            </a:r>
            <a:endParaRPr lang="en-US" sz="1700" dirty="0"/>
          </a:p>
        </p:txBody>
      </p:sp>
      <p:sp>
        <p:nvSpPr>
          <p:cNvPr id="10" name="Text 7"/>
          <p:cNvSpPr/>
          <p:nvPr/>
        </p:nvSpPr>
        <p:spPr>
          <a:xfrm>
            <a:off x="694944" y="4553712"/>
            <a:ext cx="10607040" cy="566928"/>
          </a:xfrm>
          <a:prstGeom prst="rect">
            <a:avLst/>
          </a:prstGeom>
          <a:noFill/>
          <a:ln/>
        </p:spPr>
        <p:txBody>
          <a:bodyPr wrap="square" lIns="0" tIns="0" rIns="0" bIns="0" rtlCol="0" anchor="ctr">
            <a:normAutofit/>
          </a:bodyPr>
          <a:lstStyle/>
          <a:p>
            <a:pPr indent="0" marL="0">
              <a:buNone/>
            </a:pPr>
            <a:r>
              <a:rPr lang="en-US" sz="1500" dirty="0">
                <a:solidFill>
                  <a:srgbClr val="1F2937"/>
                </a:solidFill>
                <a:latin typeface="Times New Roman" pitchFamily="34" charset="0"/>
                <a:ea typeface="Times New Roman" pitchFamily="34" charset="-122"/>
                <a:cs typeface="Times New Roman" pitchFamily="34" charset="-120"/>
              </a:rPr>
              <a:t>SalePrice lệch phải khá rõ. Phần lớn nhà tập trung ở mức giá thấp và trung bình, trong khi một số căn có giá cao làm phần đuôi bên phải kéo dài.</a:t>
            </a:r>
            <a:endParaRPr lang="en-US" sz="1500" dirty="0"/>
          </a:p>
        </p:txBody>
      </p:sp>
      <p:sp>
        <p:nvSpPr>
          <p:cNvPr id="11" name="Text 8"/>
          <p:cNvSpPr/>
          <p:nvPr/>
        </p:nvSpPr>
        <p:spPr>
          <a:xfrm>
            <a:off x="694944" y="5257800"/>
            <a:ext cx="10607040" cy="475488"/>
          </a:xfrm>
          <a:prstGeom prst="rect">
            <a:avLst/>
          </a:prstGeom>
          <a:noFill/>
          <a:ln/>
        </p:spPr>
        <p:txBody>
          <a:bodyPr wrap="square" lIns="0" tIns="0" rIns="0" bIns="0" rtlCol="0" anchor="ctr">
            <a:normAutofit/>
          </a:bodyPr>
          <a:lstStyle/>
          <a:p>
            <a:pPr indent="0" marL="0">
              <a:buNone/>
            </a:pPr>
            <a:r>
              <a:rPr lang="en-US" sz="1500" dirty="0">
                <a:solidFill>
                  <a:srgbClr val="1F2937"/>
                </a:solidFill>
                <a:latin typeface="Times New Roman" pitchFamily="34" charset="0"/>
                <a:ea typeface="Times New Roman" pitchFamily="34" charset="-122"/>
                <a:cs typeface="Times New Roman" pitchFamily="34" charset="-120"/>
              </a:rPr>
              <a:t>Vì vậy, log-transform là một hướng xử lý có thể cân nhắc ở bước mô hình hóa để phân phối cân đối hơn.</a:t>
            </a:r>
            <a:endParaRPr lang="en-US" sz="15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566928" y="347472"/>
            <a:ext cx="10789920" cy="384048"/>
          </a:xfrm>
          <a:prstGeom prst="rect">
            <a:avLst/>
          </a:prstGeom>
          <a:noFill/>
          <a:ln/>
        </p:spPr>
        <p:txBody>
          <a:bodyPr wrap="square" lIns="0" tIns="0" rIns="0" bIns="0" rtlCol="0" anchor="ctr"/>
          <a:lstStyle/>
          <a:p>
            <a:pPr indent="0" marL="0">
              <a:buNone/>
            </a:pPr>
            <a:r>
              <a:rPr lang="en-US" sz="2700" b="1" dirty="0">
                <a:solidFill>
                  <a:srgbClr val="173B5E"/>
                </a:solidFill>
                <a:latin typeface="Times New Roman" pitchFamily="34" charset="0"/>
                <a:ea typeface="Times New Roman" pitchFamily="34" charset="-122"/>
                <a:cs typeface="Times New Roman" pitchFamily="34" charset="-120"/>
              </a:rPr>
              <a:t>4. Phân tích đơn biến: các biến chính</a:t>
            </a:r>
            <a:endParaRPr lang="en-US" sz="2700" dirty="0"/>
          </a:p>
        </p:txBody>
      </p:sp>
      <p:sp>
        <p:nvSpPr>
          <p:cNvPr id="3" name="Shape 1"/>
          <p:cNvSpPr/>
          <p:nvPr/>
        </p:nvSpPr>
        <p:spPr>
          <a:xfrm>
            <a:off x="566928" y="859536"/>
            <a:ext cx="731520" cy="0"/>
          </a:xfrm>
          <a:prstGeom prst="line">
            <a:avLst/>
          </a:prstGeom>
          <a:noFill/>
          <a:ln w="31750">
            <a:solidFill>
              <a:srgbClr val="B53B32"/>
            </a:solidFill>
            <a:prstDash val="solid"/>
          </a:ln>
        </p:spPr>
        <p:txBody>
          <a:bodyPr/>
          <a:p/>
        </p:txBody>
      </p:sp>
      <p:sp>
        <p:nvSpPr>
          <p:cNvPr id="4" name="Text 2"/>
          <p:cNvSpPr/>
          <p:nvPr/>
        </p:nvSpPr>
        <p:spPr>
          <a:xfrm>
            <a:off x="1389888" y="777240"/>
            <a:ext cx="9784080" cy="256032"/>
          </a:xfrm>
          <a:prstGeom prst="rect">
            <a:avLst/>
          </a:prstGeom>
          <a:noFill/>
          <a:ln/>
        </p:spPr>
        <p:txBody>
          <a:bodyPr wrap="square" lIns="0" tIns="0" rIns="0" bIns="0" rtlCol="0" anchor="ctr"/>
          <a:lstStyle/>
          <a:p>
            <a:pPr indent="0" marL="0">
              <a:buNone/>
            </a:pPr>
            <a:r>
              <a:rPr lang="en-US" sz="1100" dirty="0">
                <a:solidFill>
                  <a:srgbClr val="667085"/>
                </a:solidFill>
                <a:latin typeface="Times New Roman" pitchFamily="34" charset="0"/>
                <a:ea typeface="Times New Roman" pitchFamily="34" charset="-122"/>
                <a:cs typeface="Times New Roman" pitchFamily="34" charset="-120"/>
              </a:rPr>
              <a:t>Nhìn nhanh các biến diện tích và biến phân loại</a:t>
            </a:r>
            <a:endParaRPr lang="en-US" sz="1100" dirty="0"/>
          </a:p>
        </p:txBody>
      </p:sp>
      <p:pic>
        <p:nvPicPr>
          <p:cNvPr id="5" name="Image 0" descr="/mnt/data/_docx_unzip/word/media/a1d78ee1d9de3dd4376c01673ad1622cab97b777.png">    </p:cNvPr>
          <p:cNvPicPr>
            <a:picLocks noChangeAspect="1"/>
          </p:cNvPicPr>
          <p:nvPr/>
        </p:nvPicPr>
        <p:blipFill>
          <a:blip r:embed="rId1"/>
          <a:stretch>
            <a:fillRect/>
          </a:stretch>
        </p:blipFill>
        <p:spPr>
          <a:xfrm>
            <a:off x="658368" y="1188720"/>
            <a:ext cx="6537960" cy="2743200"/>
          </a:xfrm>
          <a:prstGeom prst="rect">
            <a:avLst/>
          </a:prstGeom>
        </p:spPr>
      </p:pic>
      <p:sp>
        <p:nvSpPr>
          <p:cNvPr id="6" name="Shape 3"/>
          <p:cNvSpPr/>
          <p:nvPr/>
        </p:nvSpPr>
        <p:spPr>
          <a:xfrm>
            <a:off x="7498080" y="1207008"/>
            <a:ext cx="3977640" cy="2688336"/>
          </a:xfrm>
          <a:prstGeom prst="roundRect">
            <a:avLst>
              <a:gd name="adj" fmla="val 2041"/>
            </a:avLst>
          </a:prstGeom>
          <a:solidFill>
            <a:srgbClr val="FFFFFF"/>
          </a:solidFill>
          <a:ln w="12700">
            <a:solidFill>
              <a:srgbClr val="E1E6EC"/>
            </a:solidFill>
            <a:prstDash val="solid"/>
          </a:ln>
        </p:spPr>
        <p:txBody>
          <a:bodyPr/>
          <a:p/>
        </p:txBody>
      </p:sp>
      <p:sp>
        <p:nvSpPr>
          <p:cNvPr id="7" name="Text 4"/>
          <p:cNvSpPr/>
          <p:nvPr/>
        </p:nvSpPr>
        <p:spPr>
          <a:xfrm>
            <a:off x="7754112" y="1435608"/>
            <a:ext cx="2377440" cy="274320"/>
          </a:xfrm>
          <a:prstGeom prst="rect">
            <a:avLst/>
          </a:prstGeom>
          <a:noFill/>
          <a:ln/>
        </p:spPr>
        <p:txBody>
          <a:bodyPr wrap="square" lIns="0" tIns="0" rIns="0" bIns="0" rtlCol="0" anchor="ctr"/>
          <a:lstStyle/>
          <a:p>
            <a:pPr indent="0" marL="0">
              <a:buNone/>
            </a:pPr>
            <a:r>
              <a:rPr lang="en-US" sz="1700" b="1" dirty="0">
                <a:solidFill>
                  <a:srgbClr val="1F2937"/>
                </a:solidFill>
                <a:latin typeface="Times New Roman" pitchFamily="34" charset="0"/>
                <a:ea typeface="Times New Roman" pitchFamily="34" charset="-122"/>
                <a:cs typeface="Times New Roman" pitchFamily="34" charset="-120"/>
              </a:rPr>
              <a:t>Quan sát nổi bật</a:t>
            </a:r>
            <a:endParaRPr lang="en-US" sz="1700" dirty="0"/>
          </a:p>
        </p:txBody>
      </p:sp>
      <p:sp>
        <p:nvSpPr>
          <p:cNvPr id="8" name="Text 5"/>
          <p:cNvSpPr/>
          <p:nvPr/>
        </p:nvSpPr>
        <p:spPr>
          <a:xfrm>
            <a:off x="7754112" y="1883664"/>
            <a:ext cx="3310128" cy="1700784"/>
          </a:xfrm>
          <a:prstGeom prst="rect">
            <a:avLst/>
          </a:prstGeom>
          <a:noFill/>
          <a:ln/>
        </p:spPr>
        <p:txBody>
          <a:bodyPr wrap="square" lIns="0" tIns="0" rIns="0" bIns="0" rtlCol="0" anchor="ctr">
            <a:normAutofit/>
          </a:bodyPr>
          <a:lstStyle/>
          <a:p>
            <a:pPr indent="0" marL="0">
              <a:buNone/>
            </a:pPr>
            <a:r>
              <a:rPr lang="en-US" sz="1320" dirty="0">
                <a:solidFill>
                  <a:srgbClr val="1F2937"/>
                </a:solidFill>
                <a:latin typeface="Times New Roman" pitchFamily="34" charset="0"/>
                <a:ea typeface="Times New Roman" pitchFamily="34" charset="-122"/>
                <a:cs typeface="Times New Roman" pitchFamily="34" charset="-120"/>
              </a:rPr>
              <a:t>• GrLivArea, TotalBsmtSF, 1stFlrSF, LotArea: lệch phải.</a:t>
            </a:r>
            <a:endParaRPr lang="en-US" sz="1320" dirty="0"/>
          </a:p>
          <a:p>
            <a:pPr indent="0" marL="0">
              <a:buNone/>
            </a:pPr>
            <a:endParaRPr lang="en-US" sz="1320" dirty="0"/>
          </a:p>
          <a:p>
            <a:pPr indent="0" marL="0">
              <a:buNone/>
            </a:pPr>
            <a:r>
              <a:rPr lang="en-US" sz="1320" dirty="0">
                <a:solidFill>
                  <a:srgbClr val="1F2937"/>
                </a:solidFill>
                <a:latin typeface="Times New Roman" pitchFamily="34" charset="0"/>
                <a:ea typeface="Times New Roman" pitchFamily="34" charset="-122"/>
                <a:cs typeface="Times New Roman" pitchFamily="34" charset="-120"/>
              </a:rPr>
              <a:t>• OverallQual tập trung chủ yếu ở mức 5-7.</a:t>
            </a:r>
            <a:endParaRPr lang="en-US" sz="1320" dirty="0"/>
          </a:p>
          <a:p>
            <a:pPr indent="0" marL="0">
              <a:buNone/>
            </a:pPr>
            <a:endParaRPr lang="en-US" sz="1320" dirty="0"/>
          </a:p>
          <a:p>
            <a:pPr indent="0" marL="0">
              <a:buNone/>
            </a:pPr>
            <a:r>
              <a:rPr lang="en-US" sz="1320" dirty="0">
                <a:solidFill>
                  <a:srgbClr val="1F2937"/>
                </a:solidFill>
                <a:latin typeface="Times New Roman" pitchFamily="34" charset="0"/>
                <a:ea typeface="Times New Roman" pitchFamily="34" charset="-122"/>
                <a:cs typeface="Times New Roman" pitchFamily="34" charset="-120"/>
              </a:rPr>
              <a:t>• NAmes, CollgCr, OldTown có nhiều giao dịch.</a:t>
            </a:r>
            <a:endParaRPr lang="en-US" sz="1320" dirty="0"/>
          </a:p>
          <a:p>
            <a:pPr indent="0" marL="0">
              <a:buNone/>
            </a:pPr>
            <a:endParaRPr lang="en-US" sz="1320" dirty="0"/>
          </a:p>
          <a:p>
            <a:pPr indent="0" marL="0">
              <a:buNone/>
            </a:pPr>
            <a:r>
              <a:rPr lang="en-US" sz="1320" dirty="0">
                <a:solidFill>
                  <a:srgbClr val="1F2937"/>
                </a:solidFill>
                <a:latin typeface="Times New Roman" pitchFamily="34" charset="0"/>
                <a:ea typeface="Times New Roman" pitchFamily="34" charset="-122"/>
                <a:cs typeface="Times New Roman" pitchFamily="34" charset="-120"/>
              </a:rPr>
              <a:t>• Nhà 1 tầng và 2 tầng chiếm phần lớn.</a:t>
            </a:r>
            <a:endParaRPr lang="en-US" sz="1320" dirty="0"/>
          </a:p>
        </p:txBody>
      </p:sp>
      <p:sp>
        <p:nvSpPr>
          <p:cNvPr id="9" name="Shape 6"/>
          <p:cNvSpPr/>
          <p:nvPr/>
        </p:nvSpPr>
        <p:spPr>
          <a:xfrm>
            <a:off x="676656" y="4315968"/>
            <a:ext cx="3429000" cy="1143000"/>
          </a:xfrm>
          <a:prstGeom prst="roundRect">
            <a:avLst>
              <a:gd name="adj" fmla="val 4800"/>
            </a:avLst>
          </a:prstGeom>
          <a:solidFill>
            <a:srgbClr val="FFFFFF"/>
          </a:solidFill>
          <a:ln w="12700">
            <a:solidFill>
              <a:srgbClr val="E1E6EC"/>
            </a:solidFill>
            <a:prstDash val="solid"/>
          </a:ln>
        </p:spPr>
        <p:txBody>
          <a:bodyPr/>
          <a:p/>
        </p:txBody>
      </p:sp>
      <p:sp>
        <p:nvSpPr>
          <p:cNvPr id="10" name="Shape 7"/>
          <p:cNvSpPr/>
          <p:nvPr/>
        </p:nvSpPr>
        <p:spPr>
          <a:xfrm>
            <a:off x="676656" y="4315968"/>
            <a:ext cx="73152" cy="1143000"/>
          </a:xfrm>
          <a:prstGeom prst="rect">
            <a:avLst/>
          </a:prstGeom>
          <a:solidFill>
            <a:srgbClr val="173B5E"/>
          </a:solidFill>
          <a:ln w="12700">
            <a:solidFill>
              <a:srgbClr val="173B5E"/>
            </a:solidFill>
            <a:prstDash val="solid"/>
          </a:ln>
        </p:spPr>
        <p:txBody>
          <a:bodyPr/>
          <a:p/>
        </p:txBody>
      </p:sp>
      <p:sp>
        <p:nvSpPr>
          <p:cNvPr id="11" name="Text 8"/>
          <p:cNvSpPr/>
          <p:nvPr/>
        </p:nvSpPr>
        <p:spPr>
          <a:xfrm>
            <a:off x="877824" y="4462272"/>
            <a:ext cx="3063240" cy="256032"/>
          </a:xfrm>
          <a:prstGeom prst="rect">
            <a:avLst/>
          </a:prstGeom>
          <a:noFill/>
          <a:ln/>
        </p:spPr>
        <p:txBody>
          <a:bodyPr wrap="square" lIns="0" tIns="0" rIns="0" bIns="0" rtlCol="0" anchor="ctr"/>
          <a:lstStyle/>
          <a:p>
            <a:pPr indent="0" marL="0">
              <a:buNone/>
            </a:pPr>
            <a:r>
              <a:rPr lang="en-US" sz="1500" b="1" dirty="0">
                <a:solidFill>
                  <a:srgbClr val="1F2937"/>
                </a:solidFill>
                <a:latin typeface="Times New Roman" pitchFamily="34" charset="0"/>
                <a:ea typeface="Times New Roman" pitchFamily="34" charset="-122"/>
                <a:cs typeface="Times New Roman" pitchFamily="34" charset="-120"/>
              </a:rPr>
              <a:t>Histogram</a:t>
            </a:r>
            <a:endParaRPr lang="en-US" sz="1500" dirty="0"/>
          </a:p>
        </p:txBody>
      </p:sp>
      <p:sp>
        <p:nvSpPr>
          <p:cNvPr id="12" name="Text 9"/>
          <p:cNvSpPr/>
          <p:nvPr/>
        </p:nvSpPr>
        <p:spPr>
          <a:xfrm>
            <a:off x="877824" y="4800600"/>
            <a:ext cx="3081528" cy="521208"/>
          </a:xfrm>
          <a:prstGeom prst="rect">
            <a:avLst/>
          </a:prstGeom>
          <a:noFill/>
          <a:ln/>
        </p:spPr>
        <p:txBody>
          <a:bodyPr wrap="square" lIns="254" tIns="254" rIns="254" bIns="254" rtlCol="0" anchor="t">
            <a:normAutofit/>
          </a:bodyPr>
          <a:lstStyle/>
          <a:p>
            <a:pPr indent="0" marL="0">
              <a:buNone/>
            </a:pPr>
            <a:r>
              <a:rPr lang="en-US" sz="1250" dirty="0">
                <a:solidFill>
                  <a:srgbClr val="1F2937"/>
                </a:solidFill>
                <a:latin typeface="Times New Roman" pitchFamily="34" charset="0"/>
                <a:ea typeface="Times New Roman" pitchFamily="34" charset="-122"/>
                <a:cs typeface="Times New Roman" pitchFamily="34" charset="-120"/>
              </a:rPr>
              <a:t>Phù hợp để nhìn dữ liệu tập trung ở đâu và có bị lệch hay không.</a:t>
            </a:r>
            <a:endParaRPr lang="en-US" sz="1250" dirty="0"/>
          </a:p>
        </p:txBody>
      </p:sp>
      <p:sp>
        <p:nvSpPr>
          <p:cNvPr id="13" name="Shape 10"/>
          <p:cNvSpPr/>
          <p:nvPr/>
        </p:nvSpPr>
        <p:spPr>
          <a:xfrm>
            <a:off x="4398264" y="4315968"/>
            <a:ext cx="3429000" cy="1143000"/>
          </a:xfrm>
          <a:prstGeom prst="roundRect">
            <a:avLst>
              <a:gd name="adj" fmla="val 4800"/>
            </a:avLst>
          </a:prstGeom>
          <a:solidFill>
            <a:srgbClr val="FFFFFF"/>
          </a:solidFill>
          <a:ln w="12700">
            <a:solidFill>
              <a:srgbClr val="E1E6EC"/>
            </a:solidFill>
            <a:prstDash val="solid"/>
          </a:ln>
        </p:spPr>
        <p:txBody>
          <a:bodyPr/>
          <a:p/>
        </p:txBody>
      </p:sp>
      <p:sp>
        <p:nvSpPr>
          <p:cNvPr id="14" name="Shape 11"/>
          <p:cNvSpPr/>
          <p:nvPr/>
        </p:nvSpPr>
        <p:spPr>
          <a:xfrm>
            <a:off x="4398264" y="4315968"/>
            <a:ext cx="73152" cy="1143000"/>
          </a:xfrm>
          <a:prstGeom prst="rect">
            <a:avLst/>
          </a:prstGeom>
          <a:solidFill>
            <a:srgbClr val="B53B32"/>
          </a:solidFill>
          <a:ln w="12700">
            <a:solidFill>
              <a:srgbClr val="B53B32"/>
            </a:solidFill>
            <a:prstDash val="solid"/>
          </a:ln>
        </p:spPr>
        <p:txBody>
          <a:bodyPr/>
          <a:p/>
        </p:txBody>
      </p:sp>
      <p:sp>
        <p:nvSpPr>
          <p:cNvPr id="15" name="Text 12"/>
          <p:cNvSpPr/>
          <p:nvPr/>
        </p:nvSpPr>
        <p:spPr>
          <a:xfrm>
            <a:off x="4599432" y="4462272"/>
            <a:ext cx="3063240" cy="256032"/>
          </a:xfrm>
          <a:prstGeom prst="rect">
            <a:avLst/>
          </a:prstGeom>
          <a:noFill/>
          <a:ln/>
        </p:spPr>
        <p:txBody>
          <a:bodyPr wrap="square" lIns="0" tIns="0" rIns="0" bIns="0" rtlCol="0" anchor="ctr"/>
          <a:lstStyle/>
          <a:p>
            <a:pPr indent="0" marL="0">
              <a:buNone/>
            </a:pPr>
            <a:r>
              <a:rPr lang="en-US" sz="1500" b="1" dirty="0">
                <a:solidFill>
                  <a:srgbClr val="1F2937"/>
                </a:solidFill>
                <a:latin typeface="Times New Roman" pitchFamily="34" charset="0"/>
                <a:ea typeface="Times New Roman" pitchFamily="34" charset="-122"/>
                <a:cs typeface="Times New Roman" pitchFamily="34" charset="-120"/>
              </a:rPr>
              <a:t>Countplot</a:t>
            </a:r>
            <a:endParaRPr lang="en-US" sz="1500" dirty="0"/>
          </a:p>
        </p:txBody>
      </p:sp>
      <p:sp>
        <p:nvSpPr>
          <p:cNvPr id="16" name="Text 13"/>
          <p:cNvSpPr/>
          <p:nvPr/>
        </p:nvSpPr>
        <p:spPr>
          <a:xfrm>
            <a:off x="4599432" y="4800600"/>
            <a:ext cx="3081528" cy="521208"/>
          </a:xfrm>
          <a:prstGeom prst="rect">
            <a:avLst/>
          </a:prstGeom>
          <a:noFill/>
          <a:ln/>
        </p:spPr>
        <p:txBody>
          <a:bodyPr wrap="square" lIns="254" tIns="254" rIns="254" bIns="254" rtlCol="0" anchor="t">
            <a:normAutofit/>
          </a:bodyPr>
          <a:lstStyle/>
          <a:p>
            <a:pPr indent="0" marL="0">
              <a:buNone/>
            </a:pPr>
            <a:r>
              <a:rPr lang="en-US" sz="1250" dirty="0">
                <a:solidFill>
                  <a:srgbClr val="1F2937"/>
                </a:solidFill>
                <a:latin typeface="Times New Roman" pitchFamily="34" charset="0"/>
                <a:ea typeface="Times New Roman" pitchFamily="34" charset="-122"/>
                <a:cs typeface="Times New Roman" pitchFamily="34" charset="-120"/>
              </a:rPr>
              <a:t>Cho biết nhóm phân loại nào xuất hiện nhiều hay ít.</a:t>
            </a:r>
            <a:endParaRPr lang="en-US" sz="1250" dirty="0"/>
          </a:p>
        </p:txBody>
      </p:sp>
      <p:sp>
        <p:nvSpPr>
          <p:cNvPr id="17" name="Shape 14"/>
          <p:cNvSpPr/>
          <p:nvPr/>
        </p:nvSpPr>
        <p:spPr>
          <a:xfrm>
            <a:off x="8119872" y="4315968"/>
            <a:ext cx="3355848" cy="1143000"/>
          </a:xfrm>
          <a:prstGeom prst="roundRect">
            <a:avLst>
              <a:gd name="adj" fmla="val 4800"/>
            </a:avLst>
          </a:prstGeom>
          <a:solidFill>
            <a:srgbClr val="FFFFFF"/>
          </a:solidFill>
          <a:ln w="12700">
            <a:solidFill>
              <a:srgbClr val="E1E6EC"/>
            </a:solidFill>
            <a:prstDash val="solid"/>
          </a:ln>
        </p:spPr>
        <p:txBody>
          <a:bodyPr/>
          <a:p/>
        </p:txBody>
      </p:sp>
      <p:sp>
        <p:nvSpPr>
          <p:cNvPr id="18" name="Shape 15"/>
          <p:cNvSpPr/>
          <p:nvPr/>
        </p:nvSpPr>
        <p:spPr>
          <a:xfrm>
            <a:off x="8119872" y="4315968"/>
            <a:ext cx="73152" cy="1143000"/>
          </a:xfrm>
          <a:prstGeom prst="rect">
            <a:avLst/>
          </a:prstGeom>
          <a:solidFill>
            <a:srgbClr val="446F92"/>
          </a:solidFill>
          <a:ln w="12700">
            <a:solidFill>
              <a:srgbClr val="446F92"/>
            </a:solidFill>
            <a:prstDash val="solid"/>
          </a:ln>
        </p:spPr>
        <p:txBody>
          <a:bodyPr/>
          <a:p/>
        </p:txBody>
      </p:sp>
      <p:sp>
        <p:nvSpPr>
          <p:cNvPr id="19" name="Text 16"/>
          <p:cNvSpPr/>
          <p:nvPr/>
        </p:nvSpPr>
        <p:spPr>
          <a:xfrm>
            <a:off x="8321040" y="4462272"/>
            <a:ext cx="2990088" cy="256032"/>
          </a:xfrm>
          <a:prstGeom prst="rect">
            <a:avLst/>
          </a:prstGeom>
          <a:noFill/>
          <a:ln/>
        </p:spPr>
        <p:txBody>
          <a:bodyPr wrap="square" lIns="0" tIns="0" rIns="0" bIns="0" rtlCol="0" anchor="ctr"/>
          <a:lstStyle/>
          <a:p>
            <a:pPr indent="0" marL="0">
              <a:buNone/>
            </a:pPr>
            <a:r>
              <a:rPr lang="en-US" sz="1500" b="1" dirty="0">
                <a:solidFill>
                  <a:srgbClr val="1F2937"/>
                </a:solidFill>
                <a:latin typeface="Times New Roman" pitchFamily="34" charset="0"/>
                <a:ea typeface="Times New Roman" pitchFamily="34" charset="-122"/>
                <a:cs typeface="Times New Roman" pitchFamily="34" charset="-120"/>
              </a:rPr>
              <a:t>Ý nghĩa</a:t>
            </a:r>
            <a:endParaRPr lang="en-US" sz="1500" dirty="0"/>
          </a:p>
        </p:txBody>
      </p:sp>
      <p:sp>
        <p:nvSpPr>
          <p:cNvPr id="20" name="Text 17"/>
          <p:cNvSpPr/>
          <p:nvPr/>
        </p:nvSpPr>
        <p:spPr>
          <a:xfrm>
            <a:off x="8321040" y="4800600"/>
            <a:ext cx="3008376" cy="521208"/>
          </a:xfrm>
          <a:prstGeom prst="rect">
            <a:avLst/>
          </a:prstGeom>
          <a:noFill/>
          <a:ln/>
        </p:spPr>
        <p:txBody>
          <a:bodyPr wrap="square" lIns="254" tIns="254" rIns="254" bIns="254" rtlCol="0" anchor="t">
            <a:normAutofit/>
          </a:bodyPr>
          <a:lstStyle/>
          <a:p>
            <a:pPr indent="0" marL="0">
              <a:buNone/>
            </a:pPr>
            <a:r>
              <a:rPr lang="en-US" sz="1250" dirty="0">
                <a:solidFill>
                  <a:srgbClr val="1F2937"/>
                </a:solidFill>
                <a:latin typeface="Times New Roman" pitchFamily="34" charset="0"/>
                <a:ea typeface="Times New Roman" pitchFamily="34" charset="-122"/>
                <a:cs typeface="Times New Roman" pitchFamily="34" charset="-120"/>
              </a:rPr>
              <a:t>Giúp có cái nhìn ban đầu trước khi phân tích mối quan hệ giữa các biến.</a:t>
            </a:r>
            <a:endParaRPr lang="en-US" sz="12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566928" y="347472"/>
            <a:ext cx="10789920" cy="384048"/>
          </a:xfrm>
          <a:prstGeom prst="rect">
            <a:avLst/>
          </a:prstGeom>
          <a:noFill/>
          <a:ln/>
        </p:spPr>
        <p:txBody>
          <a:bodyPr wrap="square" lIns="0" tIns="0" rIns="0" bIns="0" rtlCol="0" anchor="ctr"/>
          <a:lstStyle/>
          <a:p>
            <a:pPr indent="0" marL="0">
              <a:buNone/>
            </a:pPr>
            <a:r>
              <a:rPr lang="en-US" sz="2700" b="1" dirty="0">
                <a:solidFill>
                  <a:srgbClr val="173B5E"/>
                </a:solidFill>
                <a:latin typeface="Times New Roman" pitchFamily="34" charset="0"/>
                <a:ea typeface="Times New Roman" pitchFamily="34" charset="-122"/>
                <a:cs typeface="Times New Roman" pitchFamily="34" charset="-120"/>
              </a:rPr>
              <a:t>5. Phân tích đa biến: tương quan</a:t>
            </a:r>
            <a:endParaRPr lang="en-US" sz="2700" dirty="0"/>
          </a:p>
        </p:txBody>
      </p:sp>
      <p:sp>
        <p:nvSpPr>
          <p:cNvPr id="3" name="Shape 1"/>
          <p:cNvSpPr/>
          <p:nvPr/>
        </p:nvSpPr>
        <p:spPr>
          <a:xfrm>
            <a:off x="566928" y="859536"/>
            <a:ext cx="731520" cy="0"/>
          </a:xfrm>
          <a:prstGeom prst="line">
            <a:avLst/>
          </a:prstGeom>
          <a:noFill/>
          <a:ln w="31750">
            <a:solidFill>
              <a:srgbClr val="B53B32"/>
            </a:solidFill>
            <a:prstDash val="solid"/>
          </a:ln>
        </p:spPr>
        <p:txBody>
          <a:bodyPr/>
          <a:p/>
        </p:txBody>
      </p:sp>
      <p:sp>
        <p:nvSpPr>
          <p:cNvPr id="4" name="Text 2"/>
          <p:cNvSpPr/>
          <p:nvPr/>
        </p:nvSpPr>
        <p:spPr>
          <a:xfrm>
            <a:off x="1389888" y="777240"/>
            <a:ext cx="9784080" cy="256032"/>
          </a:xfrm>
          <a:prstGeom prst="rect">
            <a:avLst/>
          </a:prstGeom>
          <a:noFill/>
          <a:ln/>
        </p:spPr>
        <p:txBody>
          <a:bodyPr wrap="square" lIns="0" tIns="0" rIns="0" bIns="0" rtlCol="0" anchor="ctr"/>
          <a:lstStyle/>
          <a:p>
            <a:pPr indent="0" marL="0">
              <a:buNone/>
            </a:pPr>
            <a:r>
              <a:rPr lang="en-US" sz="1100" dirty="0">
                <a:solidFill>
                  <a:srgbClr val="667085"/>
                </a:solidFill>
                <a:latin typeface="Times New Roman" pitchFamily="34" charset="0"/>
                <a:ea typeface="Times New Roman" pitchFamily="34" charset="-122"/>
                <a:cs typeface="Times New Roman" pitchFamily="34" charset="-120"/>
              </a:rPr>
              <a:t>Các biến số có tương quan khá mạnh với SalePrice</a:t>
            </a:r>
            <a:endParaRPr lang="en-US" sz="1100" dirty="0"/>
          </a:p>
        </p:txBody>
      </p:sp>
      <p:pic>
        <p:nvPicPr>
          <p:cNvPr id="5" name="Image 0" descr="/mnt/data/_docx_unzip/word/media/f85e6ace95de1bb59697edce554c32874a119cc1.png">    </p:cNvPr>
          <p:cNvPicPr>
            <a:picLocks noChangeAspect="1"/>
          </p:cNvPicPr>
          <p:nvPr/>
        </p:nvPicPr>
        <p:blipFill>
          <a:blip r:embed="rId1"/>
          <a:stretch>
            <a:fillRect/>
          </a:stretch>
        </p:blipFill>
        <p:spPr>
          <a:xfrm>
            <a:off x="658368" y="1161288"/>
            <a:ext cx="5989320" cy="3977640"/>
          </a:xfrm>
          <a:prstGeom prst="rect">
            <a:avLst/>
          </a:prstGeom>
        </p:spPr>
      </p:pic>
      <p:sp>
        <p:nvSpPr>
          <p:cNvPr id="6" name="Shape 3"/>
          <p:cNvSpPr/>
          <p:nvPr/>
        </p:nvSpPr>
        <p:spPr>
          <a:xfrm>
            <a:off x="6967728" y="1234440"/>
            <a:ext cx="4462272" cy="3895344"/>
          </a:xfrm>
          <a:prstGeom prst="roundRect">
            <a:avLst>
              <a:gd name="adj" fmla="val 1408"/>
            </a:avLst>
          </a:prstGeom>
          <a:solidFill>
            <a:srgbClr val="FFFFFF"/>
          </a:solidFill>
          <a:ln w="12700">
            <a:solidFill>
              <a:srgbClr val="E1E6EC"/>
            </a:solidFill>
            <a:prstDash val="solid"/>
          </a:ln>
        </p:spPr>
        <p:txBody>
          <a:bodyPr/>
          <a:p/>
        </p:txBody>
      </p:sp>
      <p:sp>
        <p:nvSpPr>
          <p:cNvPr id="7" name="Text 4"/>
          <p:cNvSpPr/>
          <p:nvPr/>
        </p:nvSpPr>
        <p:spPr>
          <a:xfrm>
            <a:off x="7260336" y="1682496"/>
            <a:ext cx="2377440" cy="228600"/>
          </a:xfrm>
          <a:prstGeom prst="rect">
            <a:avLst/>
          </a:prstGeom>
          <a:noFill/>
          <a:ln/>
        </p:spPr>
        <p:txBody>
          <a:bodyPr wrap="square" lIns="0" tIns="0" rIns="0" bIns="0" rtlCol="0" anchor="ctr"/>
          <a:lstStyle/>
          <a:p>
            <a:pPr indent="0" marL="0">
              <a:buNone/>
            </a:pPr>
            <a:r>
              <a:rPr lang="en-US" sz="1450" b="1" dirty="0">
                <a:solidFill>
                  <a:srgbClr val="1F2937"/>
                </a:solidFill>
                <a:latin typeface="Times New Roman" pitchFamily="34" charset="0"/>
                <a:ea typeface="Times New Roman" pitchFamily="34" charset="-122"/>
                <a:cs typeface="Times New Roman" pitchFamily="34" charset="-120"/>
              </a:rPr>
              <a:t>OverallQual</a:t>
            </a:r>
            <a:endParaRPr lang="en-US" sz="1450" dirty="0"/>
          </a:p>
        </p:txBody>
      </p:sp>
      <p:sp>
        <p:nvSpPr>
          <p:cNvPr id="8" name="Text 5"/>
          <p:cNvSpPr/>
          <p:nvPr/>
        </p:nvSpPr>
        <p:spPr>
          <a:xfrm>
            <a:off x="9646920" y="1682496"/>
            <a:ext cx="1463040" cy="228600"/>
          </a:xfrm>
          <a:prstGeom prst="rect">
            <a:avLst/>
          </a:prstGeom>
          <a:noFill/>
          <a:ln/>
        </p:spPr>
        <p:txBody>
          <a:bodyPr wrap="square" lIns="0" tIns="0" rIns="0" bIns="0" rtlCol="0" anchor="ctr"/>
          <a:lstStyle/>
          <a:p>
            <a:pPr algn="r" indent="0" marL="0">
              <a:buNone/>
            </a:pPr>
            <a:r>
              <a:rPr lang="en-US" sz="1450" b="1" dirty="0">
                <a:solidFill>
                  <a:srgbClr val="173B5E"/>
                </a:solidFill>
                <a:latin typeface="Times New Roman" pitchFamily="34" charset="0"/>
                <a:ea typeface="Times New Roman" pitchFamily="34" charset="-122"/>
                <a:cs typeface="Times New Roman" pitchFamily="34" charset="-120"/>
              </a:rPr>
              <a:t>r ≈ 0,79</a:t>
            </a:r>
            <a:endParaRPr lang="en-US" sz="1450" dirty="0"/>
          </a:p>
        </p:txBody>
      </p:sp>
      <p:sp>
        <p:nvSpPr>
          <p:cNvPr id="9" name="Text 6"/>
          <p:cNvSpPr/>
          <p:nvPr/>
        </p:nvSpPr>
        <p:spPr>
          <a:xfrm>
            <a:off x="7260336" y="2295144"/>
            <a:ext cx="2377440" cy="228600"/>
          </a:xfrm>
          <a:prstGeom prst="rect">
            <a:avLst/>
          </a:prstGeom>
          <a:noFill/>
          <a:ln/>
        </p:spPr>
        <p:txBody>
          <a:bodyPr wrap="square" lIns="0" tIns="0" rIns="0" bIns="0" rtlCol="0" anchor="ctr"/>
          <a:lstStyle/>
          <a:p>
            <a:pPr indent="0" marL="0">
              <a:buNone/>
            </a:pPr>
            <a:r>
              <a:rPr lang="en-US" sz="1450" b="1" dirty="0">
                <a:solidFill>
                  <a:srgbClr val="1F2937"/>
                </a:solidFill>
                <a:latin typeface="Times New Roman" pitchFamily="34" charset="0"/>
                <a:ea typeface="Times New Roman" pitchFamily="34" charset="-122"/>
                <a:cs typeface="Times New Roman" pitchFamily="34" charset="-120"/>
              </a:rPr>
              <a:t>GrLivArea</a:t>
            </a:r>
            <a:endParaRPr lang="en-US" sz="1450" dirty="0"/>
          </a:p>
        </p:txBody>
      </p:sp>
      <p:sp>
        <p:nvSpPr>
          <p:cNvPr id="10" name="Text 7"/>
          <p:cNvSpPr/>
          <p:nvPr/>
        </p:nvSpPr>
        <p:spPr>
          <a:xfrm>
            <a:off x="9646920" y="2295144"/>
            <a:ext cx="1463040" cy="228600"/>
          </a:xfrm>
          <a:prstGeom prst="rect">
            <a:avLst/>
          </a:prstGeom>
          <a:noFill/>
          <a:ln/>
        </p:spPr>
        <p:txBody>
          <a:bodyPr wrap="square" lIns="0" tIns="0" rIns="0" bIns="0" rtlCol="0" anchor="ctr"/>
          <a:lstStyle/>
          <a:p>
            <a:pPr algn="r" indent="0" marL="0">
              <a:buNone/>
            </a:pPr>
            <a:r>
              <a:rPr lang="en-US" sz="1450" b="1" dirty="0">
                <a:solidFill>
                  <a:srgbClr val="446F92"/>
                </a:solidFill>
                <a:latin typeface="Times New Roman" pitchFamily="34" charset="0"/>
                <a:ea typeface="Times New Roman" pitchFamily="34" charset="-122"/>
                <a:cs typeface="Times New Roman" pitchFamily="34" charset="-120"/>
              </a:rPr>
              <a:t>r ≈ 0,71</a:t>
            </a:r>
            <a:endParaRPr lang="en-US" sz="1450" dirty="0"/>
          </a:p>
        </p:txBody>
      </p:sp>
      <p:sp>
        <p:nvSpPr>
          <p:cNvPr id="11" name="Text 8"/>
          <p:cNvSpPr/>
          <p:nvPr/>
        </p:nvSpPr>
        <p:spPr>
          <a:xfrm>
            <a:off x="7260336" y="2907792"/>
            <a:ext cx="2377440" cy="228600"/>
          </a:xfrm>
          <a:prstGeom prst="rect">
            <a:avLst/>
          </a:prstGeom>
          <a:noFill/>
          <a:ln/>
        </p:spPr>
        <p:txBody>
          <a:bodyPr wrap="square" lIns="0" tIns="0" rIns="0" bIns="0" rtlCol="0" anchor="ctr"/>
          <a:lstStyle/>
          <a:p>
            <a:pPr indent="0" marL="0">
              <a:buNone/>
            </a:pPr>
            <a:r>
              <a:rPr lang="en-US" sz="1450" b="1" dirty="0">
                <a:solidFill>
                  <a:srgbClr val="1F2937"/>
                </a:solidFill>
                <a:latin typeface="Times New Roman" pitchFamily="34" charset="0"/>
                <a:ea typeface="Times New Roman" pitchFamily="34" charset="-122"/>
                <a:cs typeface="Times New Roman" pitchFamily="34" charset="-120"/>
              </a:rPr>
              <a:t>GarageCars / GarageArea</a:t>
            </a:r>
            <a:endParaRPr lang="en-US" sz="1450" dirty="0"/>
          </a:p>
        </p:txBody>
      </p:sp>
      <p:sp>
        <p:nvSpPr>
          <p:cNvPr id="12" name="Text 9"/>
          <p:cNvSpPr/>
          <p:nvPr/>
        </p:nvSpPr>
        <p:spPr>
          <a:xfrm>
            <a:off x="9646920" y="2907792"/>
            <a:ext cx="1463040" cy="228600"/>
          </a:xfrm>
          <a:prstGeom prst="rect">
            <a:avLst/>
          </a:prstGeom>
          <a:noFill/>
          <a:ln/>
        </p:spPr>
        <p:txBody>
          <a:bodyPr wrap="square" lIns="0" tIns="0" rIns="0" bIns="0" rtlCol="0" anchor="ctr"/>
          <a:lstStyle/>
          <a:p>
            <a:pPr algn="r" indent="0" marL="0">
              <a:buNone/>
            </a:pPr>
            <a:r>
              <a:rPr lang="en-US" sz="1450" b="1" dirty="0">
                <a:solidFill>
                  <a:srgbClr val="B53B32"/>
                </a:solidFill>
                <a:latin typeface="Times New Roman" pitchFamily="34" charset="0"/>
                <a:ea typeface="Times New Roman" pitchFamily="34" charset="-122"/>
                <a:cs typeface="Times New Roman" pitchFamily="34" charset="-120"/>
              </a:rPr>
              <a:t>r ≈ 0,62 - 0,64</a:t>
            </a:r>
            <a:endParaRPr lang="en-US" sz="1450" dirty="0"/>
          </a:p>
        </p:txBody>
      </p:sp>
      <p:sp>
        <p:nvSpPr>
          <p:cNvPr id="13" name="Text 10"/>
          <p:cNvSpPr/>
          <p:nvPr/>
        </p:nvSpPr>
        <p:spPr>
          <a:xfrm>
            <a:off x="7260336" y="3520440"/>
            <a:ext cx="2377440" cy="228600"/>
          </a:xfrm>
          <a:prstGeom prst="rect">
            <a:avLst/>
          </a:prstGeom>
          <a:noFill/>
          <a:ln/>
        </p:spPr>
        <p:txBody>
          <a:bodyPr wrap="square" lIns="0" tIns="0" rIns="0" bIns="0" rtlCol="0" anchor="ctr"/>
          <a:lstStyle/>
          <a:p>
            <a:pPr indent="0" marL="0">
              <a:buNone/>
            </a:pPr>
            <a:r>
              <a:rPr lang="en-US" sz="1450" b="1" dirty="0">
                <a:solidFill>
                  <a:srgbClr val="1F2937"/>
                </a:solidFill>
                <a:latin typeface="Times New Roman" pitchFamily="34" charset="0"/>
                <a:ea typeface="Times New Roman" pitchFamily="34" charset="-122"/>
                <a:cs typeface="Times New Roman" pitchFamily="34" charset="-120"/>
              </a:rPr>
              <a:t>TotalBsmtSF / 1stFlrSF</a:t>
            </a:r>
            <a:endParaRPr lang="en-US" sz="1450" dirty="0"/>
          </a:p>
        </p:txBody>
      </p:sp>
      <p:sp>
        <p:nvSpPr>
          <p:cNvPr id="14" name="Text 11"/>
          <p:cNvSpPr/>
          <p:nvPr/>
        </p:nvSpPr>
        <p:spPr>
          <a:xfrm>
            <a:off x="9646920" y="3520440"/>
            <a:ext cx="1463040" cy="228600"/>
          </a:xfrm>
          <a:prstGeom prst="rect">
            <a:avLst/>
          </a:prstGeom>
          <a:noFill/>
          <a:ln/>
        </p:spPr>
        <p:txBody>
          <a:bodyPr wrap="square" lIns="0" tIns="0" rIns="0" bIns="0" rtlCol="0" anchor="ctr"/>
          <a:lstStyle/>
          <a:p>
            <a:pPr algn="r" indent="0" marL="0">
              <a:buNone/>
            </a:pPr>
            <a:r>
              <a:rPr lang="en-US" sz="1450" b="1" dirty="0">
                <a:solidFill>
                  <a:srgbClr val="3F7D5B"/>
                </a:solidFill>
                <a:latin typeface="Times New Roman" pitchFamily="34" charset="0"/>
                <a:ea typeface="Times New Roman" pitchFamily="34" charset="-122"/>
                <a:cs typeface="Times New Roman" pitchFamily="34" charset="-120"/>
              </a:rPr>
              <a:t>r ≈ 0,61</a:t>
            </a:r>
            <a:endParaRPr lang="en-US" sz="1450" dirty="0"/>
          </a:p>
        </p:txBody>
      </p:sp>
      <p:sp>
        <p:nvSpPr>
          <p:cNvPr id="15" name="Text 12"/>
          <p:cNvSpPr/>
          <p:nvPr/>
        </p:nvSpPr>
        <p:spPr>
          <a:xfrm>
            <a:off x="7269480" y="4206240"/>
            <a:ext cx="1097280" cy="228600"/>
          </a:xfrm>
          <a:prstGeom prst="rect">
            <a:avLst/>
          </a:prstGeom>
          <a:noFill/>
          <a:ln/>
        </p:spPr>
        <p:txBody>
          <a:bodyPr wrap="square" lIns="0" tIns="0" rIns="0" bIns="0" rtlCol="0" anchor="ctr"/>
          <a:lstStyle/>
          <a:p>
            <a:pPr indent="0" marL="0">
              <a:buNone/>
            </a:pPr>
            <a:r>
              <a:rPr lang="en-US" sz="1500" b="1" dirty="0">
                <a:solidFill>
                  <a:srgbClr val="1F2937"/>
                </a:solidFill>
                <a:latin typeface="Times New Roman" pitchFamily="34" charset="0"/>
                <a:ea typeface="Times New Roman" pitchFamily="34" charset="-122"/>
                <a:cs typeface="Times New Roman" pitchFamily="34" charset="-120"/>
              </a:rPr>
              <a:t>Cách đọc</a:t>
            </a:r>
            <a:endParaRPr lang="en-US" sz="1500" dirty="0"/>
          </a:p>
        </p:txBody>
      </p:sp>
      <p:sp>
        <p:nvSpPr>
          <p:cNvPr id="16" name="Text 13"/>
          <p:cNvSpPr/>
          <p:nvPr/>
        </p:nvSpPr>
        <p:spPr>
          <a:xfrm>
            <a:off x="7269480" y="4535424"/>
            <a:ext cx="3767328" cy="512064"/>
          </a:xfrm>
          <a:prstGeom prst="rect">
            <a:avLst/>
          </a:prstGeom>
          <a:noFill/>
          <a:ln/>
        </p:spPr>
        <p:txBody>
          <a:bodyPr wrap="square" lIns="0" tIns="0" rIns="0" bIns="0" rtlCol="0" anchor="ctr">
            <a:normAutofit/>
          </a:bodyPr>
          <a:lstStyle/>
          <a:p>
            <a:pPr indent="0" marL="0">
              <a:buNone/>
            </a:pPr>
            <a:r>
              <a:rPr lang="en-US" sz="1260" dirty="0">
                <a:solidFill>
                  <a:srgbClr val="1F2937"/>
                </a:solidFill>
                <a:latin typeface="Times New Roman" pitchFamily="34" charset="0"/>
                <a:ea typeface="Times New Roman" pitchFamily="34" charset="-122"/>
                <a:cs typeface="Times New Roman" pitchFamily="34" charset="-120"/>
              </a:rPr>
              <a:t>Hệ số tương quan giúp nhóm xác định những biến đáng chú ý về mặt quan hệ tuyến tính. Đây là kết quả EDA để tham khảo, không phải bằng chứng về nhân quả hay độ quan trọng cuối cùng trong mô hình.</a:t>
            </a:r>
            <a:endParaRPr lang="en-US" sz="126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566928" y="347472"/>
            <a:ext cx="10789920" cy="384048"/>
          </a:xfrm>
          <a:prstGeom prst="rect">
            <a:avLst/>
          </a:prstGeom>
          <a:noFill/>
          <a:ln/>
        </p:spPr>
        <p:txBody>
          <a:bodyPr wrap="square" lIns="0" tIns="0" rIns="0" bIns="0" rtlCol="0" anchor="ctr"/>
          <a:lstStyle/>
          <a:p>
            <a:pPr indent="0" marL="0">
              <a:buNone/>
            </a:pPr>
            <a:r>
              <a:rPr lang="en-US" sz="2700" b="1" dirty="0">
                <a:solidFill>
                  <a:srgbClr val="173B5E"/>
                </a:solidFill>
                <a:latin typeface="Times New Roman" pitchFamily="34" charset="0"/>
                <a:ea typeface="Times New Roman" pitchFamily="34" charset="-122"/>
                <a:cs typeface="Times New Roman" pitchFamily="34" charset="-120"/>
              </a:rPr>
              <a:t>6. Mối quan hệ giữa diện tích, chất lượng và vị trí</a:t>
            </a:r>
            <a:endParaRPr lang="en-US" sz="2700" dirty="0"/>
          </a:p>
        </p:txBody>
      </p:sp>
      <p:sp>
        <p:nvSpPr>
          <p:cNvPr id="3" name="Shape 1"/>
          <p:cNvSpPr/>
          <p:nvPr/>
        </p:nvSpPr>
        <p:spPr>
          <a:xfrm>
            <a:off x="566928" y="859536"/>
            <a:ext cx="731520" cy="0"/>
          </a:xfrm>
          <a:prstGeom prst="line">
            <a:avLst/>
          </a:prstGeom>
          <a:noFill/>
          <a:ln w="31750">
            <a:solidFill>
              <a:srgbClr val="B53B32"/>
            </a:solidFill>
            <a:prstDash val="solid"/>
          </a:ln>
        </p:spPr>
        <p:txBody>
          <a:bodyPr/>
          <a:p/>
        </p:txBody>
      </p:sp>
      <p:sp>
        <p:nvSpPr>
          <p:cNvPr id="4" name="Text 2"/>
          <p:cNvSpPr/>
          <p:nvPr/>
        </p:nvSpPr>
        <p:spPr>
          <a:xfrm>
            <a:off x="1389888" y="777240"/>
            <a:ext cx="9784080" cy="256032"/>
          </a:xfrm>
          <a:prstGeom prst="rect">
            <a:avLst/>
          </a:prstGeom>
          <a:noFill/>
          <a:ln/>
        </p:spPr>
        <p:txBody>
          <a:bodyPr wrap="square" lIns="0" tIns="0" rIns="0" bIns="0" rtlCol="0" anchor="ctr"/>
          <a:lstStyle/>
          <a:p>
            <a:pPr indent="0" marL="0">
              <a:buNone/>
            </a:pPr>
            <a:r>
              <a:rPr lang="en-US" sz="1100" dirty="0">
                <a:solidFill>
                  <a:srgbClr val="667085"/>
                </a:solidFill>
                <a:latin typeface="Times New Roman" pitchFamily="34" charset="0"/>
                <a:ea typeface="Times New Roman" pitchFamily="34" charset="-122"/>
                <a:cs typeface="Times New Roman" pitchFamily="34" charset="-120"/>
              </a:rPr>
              <a:t>Kết hợp scatterplot và boxplot để đọc dữ liệu</a:t>
            </a:r>
            <a:endParaRPr lang="en-US" sz="1100" dirty="0"/>
          </a:p>
        </p:txBody>
      </p:sp>
      <p:pic>
        <p:nvPicPr>
          <p:cNvPr id="5" name="Image 0" descr="/mnt/data/_docx_unzip/word/media/4469ba44665dccd255e1a479bdbb00c02387c1f7.png">    </p:cNvPr>
          <p:cNvPicPr>
            <a:picLocks noChangeAspect="1"/>
          </p:cNvPicPr>
          <p:nvPr/>
        </p:nvPicPr>
        <p:blipFill>
          <a:blip r:embed="rId1"/>
          <a:stretch>
            <a:fillRect/>
          </a:stretch>
        </p:blipFill>
        <p:spPr>
          <a:xfrm>
            <a:off x="603504" y="1097280"/>
            <a:ext cx="5623560" cy="3721608"/>
          </a:xfrm>
          <a:prstGeom prst="rect">
            <a:avLst/>
          </a:prstGeom>
        </p:spPr>
      </p:pic>
      <p:pic>
        <p:nvPicPr>
          <p:cNvPr id="6" name="Image 1" descr="/mnt/data/_docx_unzip/word/media/e144c8212afefbf9eeeebeb48c53406c7c17a403.png">    </p:cNvPr>
          <p:cNvPicPr>
            <a:picLocks noChangeAspect="1"/>
          </p:cNvPicPr>
          <p:nvPr/>
        </p:nvPicPr>
        <p:blipFill>
          <a:blip r:embed="rId2"/>
          <a:stretch>
            <a:fillRect/>
          </a:stretch>
        </p:blipFill>
        <p:spPr>
          <a:xfrm>
            <a:off x="6382512" y="1097280"/>
            <a:ext cx="5138928" cy="2871216"/>
          </a:xfrm>
          <a:prstGeom prst="rect">
            <a:avLst/>
          </a:prstGeom>
        </p:spPr>
      </p:pic>
      <p:sp>
        <p:nvSpPr>
          <p:cNvPr id="7" name="Text 3"/>
          <p:cNvSpPr/>
          <p:nvPr/>
        </p:nvSpPr>
        <p:spPr>
          <a:xfrm>
            <a:off x="749808" y="4873752"/>
            <a:ext cx="2331720" cy="274320"/>
          </a:xfrm>
          <a:prstGeom prst="rect">
            <a:avLst/>
          </a:prstGeom>
          <a:noFill/>
          <a:ln/>
        </p:spPr>
        <p:txBody>
          <a:bodyPr wrap="square" lIns="0" tIns="0" rIns="0" bIns="0" rtlCol="0" anchor="ctr"/>
          <a:lstStyle/>
          <a:p>
            <a:pPr indent="0" marL="0">
              <a:buNone/>
            </a:pPr>
            <a:r>
              <a:rPr lang="en-US" sz="1550" b="1" dirty="0">
                <a:solidFill>
                  <a:srgbClr val="173B5E"/>
                </a:solidFill>
                <a:latin typeface="Times New Roman" pitchFamily="34" charset="0"/>
                <a:ea typeface="Times New Roman" pitchFamily="34" charset="-122"/>
                <a:cs typeface="Times New Roman" pitchFamily="34" charset="-120"/>
              </a:rPr>
              <a:t>GrLivArea và SalePrice</a:t>
            </a:r>
            <a:endParaRPr lang="en-US" sz="1550" dirty="0"/>
          </a:p>
        </p:txBody>
      </p:sp>
      <p:sp>
        <p:nvSpPr>
          <p:cNvPr id="8" name="Text 4"/>
          <p:cNvSpPr/>
          <p:nvPr/>
        </p:nvSpPr>
        <p:spPr>
          <a:xfrm>
            <a:off x="749808" y="5212080"/>
            <a:ext cx="5166360" cy="502920"/>
          </a:xfrm>
          <a:prstGeom prst="rect">
            <a:avLst/>
          </a:prstGeom>
          <a:noFill/>
          <a:ln/>
        </p:spPr>
        <p:txBody>
          <a:bodyPr wrap="square" lIns="0" tIns="0" rIns="0" bIns="0" rtlCol="0" anchor="ctr">
            <a:normAutofit/>
          </a:bodyPr>
          <a:lstStyle/>
          <a:p>
            <a:pPr indent="0" marL="0">
              <a:buNone/>
            </a:pPr>
            <a:r>
              <a:rPr lang="en-US" sz="1280" dirty="0">
                <a:solidFill>
                  <a:srgbClr val="1F2937"/>
                </a:solidFill>
                <a:latin typeface="Times New Roman" pitchFamily="34" charset="0"/>
                <a:ea typeface="Times New Roman" pitchFamily="34" charset="-122"/>
                <a:cs typeface="Times New Roman" pitchFamily="34" charset="-120"/>
              </a:rPr>
              <a:t>Giá bán tăng theo diện tích nhưng không hoàn toàn tuyến tính. Khi tô màu theo OverallQual (notebook đa biến), nhà chất lượng cao thường có giá cao hơn.</a:t>
            </a:r>
            <a:endParaRPr lang="en-US" sz="1280" dirty="0"/>
          </a:p>
        </p:txBody>
      </p:sp>
      <p:sp>
        <p:nvSpPr>
          <p:cNvPr id="9" name="Text 5"/>
          <p:cNvSpPr/>
          <p:nvPr/>
        </p:nvSpPr>
        <p:spPr>
          <a:xfrm>
            <a:off x="6473952" y="4178808"/>
            <a:ext cx="2651760" cy="274320"/>
          </a:xfrm>
          <a:prstGeom prst="rect">
            <a:avLst/>
          </a:prstGeom>
          <a:noFill/>
          <a:ln/>
        </p:spPr>
        <p:txBody>
          <a:bodyPr wrap="square" lIns="0" tIns="0" rIns="0" bIns="0" rtlCol="0" anchor="ctr"/>
          <a:lstStyle/>
          <a:p>
            <a:pPr indent="0" marL="0">
              <a:buNone/>
            </a:pPr>
            <a:r>
              <a:rPr lang="en-US" sz="1550" b="1" dirty="0">
                <a:solidFill>
                  <a:srgbClr val="173B5E"/>
                </a:solidFill>
                <a:latin typeface="Times New Roman" pitchFamily="34" charset="0"/>
                <a:ea typeface="Times New Roman" pitchFamily="34" charset="-122"/>
                <a:cs typeface="Times New Roman" pitchFamily="34" charset="-120"/>
              </a:rPr>
              <a:t>Neighborhood và SalePrice</a:t>
            </a:r>
            <a:endParaRPr lang="en-US" sz="1550" dirty="0"/>
          </a:p>
        </p:txBody>
      </p:sp>
      <p:sp>
        <p:nvSpPr>
          <p:cNvPr id="10" name="Text 6"/>
          <p:cNvSpPr/>
          <p:nvPr/>
        </p:nvSpPr>
        <p:spPr>
          <a:xfrm>
            <a:off x="6473952" y="4517136"/>
            <a:ext cx="4754880" cy="640080"/>
          </a:xfrm>
          <a:prstGeom prst="rect">
            <a:avLst/>
          </a:prstGeom>
          <a:noFill/>
          <a:ln/>
        </p:spPr>
        <p:txBody>
          <a:bodyPr wrap="square" lIns="0" tIns="0" rIns="0" bIns="0" rtlCol="0" anchor="ctr">
            <a:normAutofit/>
          </a:bodyPr>
          <a:lstStyle/>
          <a:p>
            <a:pPr indent="0" marL="0">
              <a:buNone/>
            </a:pPr>
            <a:r>
              <a:rPr lang="en-US" sz="1280" dirty="0">
                <a:solidFill>
                  <a:srgbClr val="1F2937"/>
                </a:solidFill>
                <a:latin typeface="Times New Roman" pitchFamily="34" charset="0"/>
                <a:ea typeface="Times New Roman" pitchFamily="34" charset="-122"/>
                <a:cs typeface="Times New Roman" pitchFamily="34" charset="-120"/>
              </a:rPr>
              <a:t>Giá trung vị khác nhau khá rõ giữa các khu vực. NridgHt và Somerst cao hơn trong nhóm được chọn; OldTown và Edwards thấp hơn đáng kể.</a:t>
            </a:r>
            <a:endParaRPr lang="en-US" sz="128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nvSpPr>
        <p:spPr>
          <a:xfrm>
            <a:off x="566928" y="347472"/>
            <a:ext cx="10789920" cy="384048"/>
          </a:xfrm>
          <a:prstGeom prst="rect">
            <a:avLst/>
          </a:prstGeom>
          <a:noFill/>
          <a:ln/>
        </p:spPr>
        <p:txBody>
          <a:bodyPr wrap="square" lIns="0" tIns="0" rIns="0" bIns="0" rtlCol="0" anchor="ctr"/>
          <a:lstStyle/>
          <a:p>
            <a:pPr indent="0" marL="0">
              <a:buNone/>
            </a:pPr>
            <a:r>
              <a:rPr lang="en-US" sz="2700" b="1" dirty="0">
                <a:solidFill>
                  <a:srgbClr val="173B5E"/>
                </a:solidFill>
                <a:latin typeface="Times New Roman" pitchFamily="34" charset="0"/>
                <a:ea typeface="Times New Roman" pitchFamily="34" charset="-122"/>
                <a:cs typeface="Times New Roman" pitchFamily="34" charset="-120"/>
              </a:rPr>
              <a:t>7. Giá trị thiếu</a:t>
            </a:r>
            <a:endParaRPr lang="en-US" sz="2700" dirty="0"/>
          </a:p>
        </p:txBody>
      </p:sp>
      <p:sp>
        <p:nvSpPr>
          <p:cNvPr id="3" name="Shape 1"/>
          <p:cNvSpPr/>
          <p:nvPr/>
        </p:nvSpPr>
        <p:spPr>
          <a:xfrm>
            <a:off x="566928" y="859536"/>
            <a:ext cx="731520" cy="0"/>
          </a:xfrm>
          <a:prstGeom prst="line">
            <a:avLst/>
          </a:prstGeom>
          <a:noFill/>
          <a:ln w="31750">
            <a:solidFill>
              <a:srgbClr val="B53B32"/>
            </a:solidFill>
            <a:prstDash val="solid"/>
          </a:ln>
        </p:spPr>
        <p:txBody>
          <a:bodyPr/>
          <a:p/>
        </p:txBody>
      </p:sp>
      <p:sp>
        <p:nvSpPr>
          <p:cNvPr id="4" name="Text 2"/>
          <p:cNvSpPr/>
          <p:nvPr/>
        </p:nvSpPr>
        <p:spPr>
          <a:xfrm>
            <a:off x="1389888" y="777240"/>
            <a:ext cx="9784080" cy="256032"/>
          </a:xfrm>
          <a:prstGeom prst="rect">
            <a:avLst/>
          </a:prstGeom>
          <a:noFill/>
          <a:ln/>
        </p:spPr>
        <p:txBody>
          <a:bodyPr wrap="square" lIns="0" tIns="0" rIns="0" bIns="0" rtlCol="0" anchor="ctr"/>
          <a:lstStyle/>
          <a:p>
            <a:pPr indent="0" marL="0">
              <a:buNone/>
            </a:pPr>
            <a:r>
              <a:rPr lang="en-US" sz="1100" dirty="0">
                <a:solidFill>
                  <a:srgbClr val="667085"/>
                </a:solidFill>
                <a:latin typeface="Times New Roman" pitchFamily="34" charset="0"/>
                <a:ea typeface="Times New Roman" pitchFamily="34" charset="-122"/>
                <a:cs typeface="Times New Roman" pitchFamily="34" charset="-120"/>
              </a:rPr>
              <a:t>Không phải NaN nào cũng là lỗi dữ liệu</a:t>
            </a:r>
            <a:endParaRPr lang="en-US" sz="1100" dirty="0"/>
          </a:p>
        </p:txBody>
      </p:sp>
      <p:pic>
        <p:nvPicPr>
          <p:cNvPr id="5" name="Image 0" descr="/mnt/data/_docx_unzip/word/media/cb6148555092b3cfd7707e1a8d26f6c0cf7a1a23.png">    </p:cNvPr>
          <p:cNvPicPr>
            <a:picLocks noChangeAspect="1"/>
          </p:cNvPicPr>
          <p:nvPr/>
        </p:nvPicPr>
        <p:blipFill>
          <a:blip r:embed="rId1"/>
          <a:stretch>
            <a:fillRect/>
          </a:stretch>
        </p:blipFill>
        <p:spPr>
          <a:xfrm>
            <a:off x="640080" y="1133856"/>
            <a:ext cx="5532120" cy="4498848"/>
          </a:xfrm>
          <a:prstGeom prst="rect">
            <a:avLst/>
          </a:prstGeom>
        </p:spPr>
      </p:pic>
      <p:sp>
        <p:nvSpPr>
          <p:cNvPr id="6" name="Shape 3"/>
          <p:cNvSpPr/>
          <p:nvPr/>
        </p:nvSpPr>
        <p:spPr>
          <a:xfrm>
            <a:off x="6446520" y="1188720"/>
            <a:ext cx="5074920" cy="4352544"/>
          </a:xfrm>
          <a:prstGeom prst="roundRect">
            <a:avLst>
              <a:gd name="adj" fmla="val 1261"/>
            </a:avLst>
          </a:prstGeom>
          <a:solidFill>
            <a:srgbClr val="FFFFFF"/>
          </a:solidFill>
          <a:ln w="12700">
            <a:solidFill>
              <a:srgbClr val="E1E6EC"/>
            </a:solidFill>
            <a:prstDash val="solid"/>
          </a:ln>
        </p:spPr>
        <p:txBody>
          <a:bodyPr/>
          <a:p/>
        </p:txBody>
      </p:sp>
      <p:sp>
        <p:nvSpPr>
          <p:cNvPr id="7" name="Text 4"/>
          <p:cNvSpPr/>
          <p:nvPr/>
        </p:nvSpPr>
        <p:spPr>
          <a:xfrm>
            <a:off x="6729984" y="1481328"/>
            <a:ext cx="4023360" cy="365760"/>
          </a:xfrm>
          <a:prstGeom prst="rect">
            <a:avLst/>
          </a:prstGeom>
          <a:noFill/>
          <a:ln/>
        </p:spPr>
        <p:txBody>
          <a:bodyPr wrap="square" lIns="0" tIns="0" rIns="0" bIns="0" rtlCol="0" anchor="ctr"/>
          <a:lstStyle/>
          <a:p>
            <a:pPr indent="0" marL="0">
              <a:buNone/>
            </a:pPr>
            <a:r>
              <a:rPr lang="en-US" sz="2200" b="1" dirty="0">
                <a:solidFill>
                  <a:srgbClr val="B53B32"/>
                </a:solidFill>
                <a:latin typeface="Times New Roman" pitchFamily="34" charset="0"/>
                <a:ea typeface="Times New Roman" pitchFamily="34" charset="-122"/>
                <a:cs typeface="Times New Roman" pitchFamily="34" charset="-120"/>
              </a:rPr>
              <a:t>19 / 81 cột có giá trị thiếu</a:t>
            </a:r>
            <a:endParaRPr lang="en-US" sz="2200" dirty="0"/>
          </a:p>
        </p:txBody>
      </p:sp>
      <p:sp>
        <p:nvSpPr>
          <p:cNvPr id="8" name="Text 5"/>
          <p:cNvSpPr/>
          <p:nvPr/>
        </p:nvSpPr>
        <p:spPr>
          <a:xfrm>
            <a:off x="6729984" y="2029968"/>
            <a:ext cx="2011680" cy="274320"/>
          </a:xfrm>
          <a:prstGeom prst="rect">
            <a:avLst/>
          </a:prstGeom>
          <a:noFill/>
          <a:ln/>
        </p:spPr>
        <p:txBody>
          <a:bodyPr wrap="square" lIns="0" tIns="0" rIns="0" bIns="0" rtlCol="0" anchor="ctr"/>
          <a:lstStyle/>
          <a:p>
            <a:pPr indent="0" marL="0">
              <a:buNone/>
            </a:pPr>
            <a:r>
              <a:rPr lang="en-US" sz="1550" b="1" dirty="0">
                <a:solidFill>
                  <a:srgbClr val="1F2937"/>
                </a:solidFill>
                <a:latin typeface="Times New Roman" pitchFamily="34" charset="0"/>
                <a:ea typeface="Times New Roman" pitchFamily="34" charset="-122"/>
                <a:cs typeface="Times New Roman" pitchFamily="34" charset="-120"/>
              </a:rPr>
              <a:t>Thiếu nhiều nhất</a:t>
            </a:r>
            <a:endParaRPr lang="en-US" sz="1550" dirty="0"/>
          </a:p>
        </p:txBody>
      </p:sp>
      <p:sp>
        <p:nvSpPr>
          <p:cNvPr id="9" name="Text 6"/>
          <p:cNvSpPr/>
          <p:nvPr/>
        </p:nvSpPr>
        <p:spPr>
          <a:xfrm>
            <a:off x="6729984" y="2395728"/>
            <a:ext cx="2240280" cy="1307592"/>
          </a:xfrm>
          <a:prstGeom prst="rect">
            <a:avLst/>
          </a:prstGeom>
          <a:noFill/>
          <a:ln/>
        </p:spPr>
        <p:txBody>
          <a:bodyPr wrap="square" lIns="0" tIns="0" rIns="0" bIns="0" rtlCol="0" anchor="ctr"/>
          <a:lstStyle/>
          <a:p>
            <a:pPr indent="0" marL="0">
              <a:buNone/>
            </a:pPr>
            <a:r>
              <a:rPr lang="en-US" sz="1400" dirty="0">
                <a:solidFill>
                  <a:srgbClr val="1F2937"/>
                </a:solidFill>
                <a:latin typeface="Times New Roman" pitchFamily="34" charset="0"/>
                <a:ea typeface="Times New Roman" pitchFamily="34" charset="-122"/>
                <a:cs typeface="Times New Roman" pitchFamily="34" charset="-120"/>
              </a:rPr>
              <a:t>PoolQC 99,5%</a:t>
            </a:r>
            <a:endParaRPr lang="en-US" sz="1400" dirty="0"/>
          </a:p>
          <a:p>
            <a:pPr indent="0" marL="0">
              <a:buNone/>
            </a:pPr>
            <a:r>
              <a:rPr lang="en-US" sz="1400" dirty="0">
                <a:solidFill>
                  <a:srgbClr val="1F2937"/>
                </a:solidFill>
                <a:latin typeface="Times New Roman" pitchFamily="34" charset="0"/>
                <a:ea typeface="Times New Roman" pitchFamily="34" charset="-122"/>
                <a:cs typeface="Times New Roman" pitchFamily="34" charset="-120"/>
              </a:rPr>
              <a:t>MiscFeature 96,3%</a:t>
            </a:r>
            <a:endParaRPr lang="en-US" sz="1400" dirty="0"/>
          </a:p>
          <a:p>
            <a:pPr indent="0" marL="0">
              <a:buNone/>
            </a:pPr>
            <a:r>
              <a:rPr lang="en-US" sz="1400" dirty="0">
                <a:solidFill>
                  <a:srgbClr val="1F2937"/>
                </a:solidFill>
                <a:latin typeface="Times New Roman" pitchFamily="34" charset="0"/>
                <a:ea typeface="Times New Roman" pitchFamily="34" charset="-122"/>
                <a:cs typeface="Times New Roman" pitchFamily="34" charset="-120"/>
              </a:rPr>
              <a:t>Alley 93,8%</a:t>
            </a:r>
            <a:endParaRPr lang="en-US" sz="1400" dirty="0"/>
          </a:p>
          <a:p>
            <a:pPr indent="0" marL="0">
              <a:buNone/>
            </a:pPr>
            <a:r>
              <a:rPr lang="en-US" sz="1400" dirty="0">
                <a:solidFill>
                  <a:srgbClr val="1F2937"/>
                </a:solidFill>
                <a:latin typeface="Times New Roman" pitchFamily="34" charset="0"/>
                <a:ea typeface="Times New Roman" pitchFamily="34" charset="-122"/>
                <a:cs typeface="Times New Roman" pitchFamily="34" charset="-120"/>
              </a:rPr>
              <a:t>Fence 80,8%</a:t>
            </a:r>
            <a:endParaRPr lang="en-US" sz="1400" dirty="0"/>
          </a:p>
          <a:p>
            <a:pPr indent="0" marL="0">
              <a:buNone/>
            </a:pPr>
            <a:r>
              <a:rPr lang="en-US" sz="1400" dirty="0">
                <a:solidFill>
                  <a:srgbClr val="1F2937"/>
                </a:solidFill>
                <a:latin typeface="Times New Roman" pitchFamily="34" charset="0"/>
                <a:ea typeface="Times New Roman" pitchFamily="34" charset="-122"/>
                <a:cs typeface="Times New Roman" pitchFamily="34" charset="-120"/>
              </a:rPr>
              <a:t>MasVnrType 59,7%</a:t>
            </a:r>
            <a:endParaRPr lang="en-US" sz="1400" dirty="0"/>
          </a:p>
        </p:txBody>
      </p:sp>
      <p:sp>
        <p:nvSpPr>
          <p:cNvPr id="10" name="Text 7"/>
          <p:cNvSpPr/>
          <p:nvPr/>
        </p:nvSpPr>
        <p:spPr>
          <a:xfrm>
            <a:off x="9144000" y="2029968"/>
            <a:ext cx="1280160" cy="274320"/>
          </a:xfrm>
          <a:prstGeom prst="rect">
            <a:avLst/>
          </a:prstGeom>
          <a:noFill/>
          <a:ln/>
        </p:spPr>
        <p:txBody>
          <a:bodyPr wrap="square" lIns="0" tIns="0" rIns="0" bIns="0" rtlCol="0" anchor="ctr"/>
          <a:lstStyle/>
          <a:p>
            <a:pPr indent="0" marL="0">
              <a:buNone/>
            </a:pPr>
            <a:r>
              <a:rPr lang="en-US" sz="1550" b="1" dirty="0">
                <a:solidFill>
                  <a:srgbClr val="1F2937"/>
                </a:solidFill>
                <a:latin typeface="Times New Roman" pitchFamily="34" charset="0"/>
                <a:ea typeface="Times New Roman" pitchFamily="34" charset="-122"/>
                <a:cs typeface="Times New Roman" pitchFamily="34" charset="-120"/>
              </a:rPr>
              <a:t>Nhận xét</a:t>
            </a:r>
            <a:endParaRPr lang="en-US" sz="1550" dirty="0"/>
          </a:p>
        </p:txBody>
      </p:sp>
      <p:sp>
        <p:nvSpPr>
          <p:cNvPr id="11" name="Text 8"/>
          <p:cNvSpPr/>
          <p:nvPr/>
        </p:nvSpPr>
        <p:spPr>
          <a:xfrm>
            <a:off x="9144000" y="2395728"/>
            <a:ext cx="1993392" cy="1828800"/>
          </a:xfrm>
          <a:prstGeom prst="rect">
            <a:avLst/>
          </a:prstGeom>
          <a:noFill/>
          <a:ln/>
        </p:spPr>
        <p:txBody>
          <a:bodyPr wrap="square" lIns="0" tIns="0" rIns="0" bIns="0" rtlCol="0" anchor="ctr">
            <a:normAutofit/>
          </a:bodyPr>
          <a:lstStyle/>
          <a:p>
            <a:pPr indent="0" marL="0">
              <a:buNone/>
            </a:pPr>
            <a:r>
              <a:rPr lang="en-US" sz="1240" dirty="0">
                <a:solidFill>
                  <a:srgbClr val="1F2937"/>
                </a:solidFill>
                <a:latin typeface="Times New Roman" pitchFamily="34" charset="0"/>
                <a:ea typeface="Times New Roman" pitchFamily="34" charset="-122"/>
                <a:cs typeface="Times New Roman" pitchFamily="34" charset="-120"/>
              </a:rPr>
              <a:t>Theo mô tả dữ liệu, nhiều NaN có thể mang nghĩa “không có đặc điểm đó”, ví dụ không có hồ bơi hoặc hàng rào. Vì vậy cần xử lý theo từng biến, không nên điền thiếu một cách máy móc.</a:t>
            </a:r>
            <a:endParaRPr lang="en-US" sz="1240" dirty="0"/>
          </a:p>
        </p:txBody>
      </p:sp>
      <p:sp>
        <p:nvSpPr>
          <p:cNvPr id="12" name="Text 9"/>
          <p:cNvSpPr/>
          <p:nvPr/>
        </p:nvSpPr>
        <p:spPr>
          <a:xfrm>
            <a:off x="6729984" y="4343400"/>
            <a:ext cx="4315968" cy="576072"/>
          </a:xfrm>
          <a:prstGeom prst="rect">
            <a:avLst/>
          </a:prstGeom>
          <a:noFill/>
          <a:ln/>
        </p:spPr>
        <p:txBody>
          <a:bodyPr wrap="square" lIns="0" tIns="0" rIns="0" bIns="0" rtlCol="0" anchor="ctr">
            <a:normAutofit/>
          </a:bodyPr>
          <a:lstStyle/>
          <a:p>
            <a:pPr indent="0" marL="0">
              <a:buNone/>
            </a:pPr>
            <a:r>
              <a:rPr lang="en-US" sz="1270" b="1" dirty="0">
                <a:solidFill>
                  <a:srgbClr val="173B5E"/>
                </a:solidFill>
                <a:latin typeface="Times New Roman" pitchFamily="34" charset="0"/>
                <a:ea typeface="Times New Roman" pitchFamily="34" charset="-122"/>
                <a:cs typeface="Times New Roman" pitchFamily="34" charset="-120"/>
              </a:rPr>
              <a:t>LotFrontage thiếu khoảng 17,7%: có thể cân nhắc điền trung vị theo Neighborhood để phù hợp hơn với từng khu vực.</a:t>
            </a:r>
            <a:endParaRPr lang="en-US" sz="127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nvSpPr>
        <p:spPr>
          <a:xfrm>
            <a:off x="566928" y="347472"/>
            <a:ext cx="10789920" cy="384048"/>
          </a:xfrm>
          <a:prstGeom prst="rect">
            <a:avLst/>
          </a:prstGeom>
          <a:noFill/>
          <a:ln/>
        </p:spPr>
        <p:txBody>
          <a:bodyPr wrap="square" lIns="0" tIns="0" rIns="0" bIns="0" rtlCol="0" anchor="ctr"/>
          <a:lstStyle/>
          <a:p>
            <a:pPr indent="0" marL="0">
              <a:buNone/>
            </a:pPr>
            <a:r>
              <a:rPr lang="en-US" sz="2700" b="1" dirty="0">
                <a:solidFill>
                  <a:srgbClr val="173B5E"/>
                </a:solidFill>
                <a:latin typeface="Times New Roman" pitchFamily="34" charset="0"/>
                <a:ea typeface="Times New Roman" pitchFamily="34" charset="-122"/>
                <a:cs typeface="Times New Roman" pitchFamily="34" charset="-120"/>
              </a:rPr>
              <a:t>8. Mẫu bất thường và ngoại lệ</a:t>
            </a:r>
            <a:endParaRPr lang="en-US" sz="2700" dirty="0"/>
          </a:p>
        </p:txBody>
      </p:sp>
      <p:sp>
        <p:nvSpPr>
          <p:cNvPr id="3" name="Shape 1"/>
          <p:cNvSpPr/>
          <p:nvPr/>
        </p:nvSpPr>
        <p:spPr>
          <a:xfrm>
            <a:off x="566928" y="859536"/>
            <a:ext cx="731520" cy="0"/>
          </a:xfrm>
          <a:prstGeom prst="line">
            <a:avLst/>
          </a:prstGeom>
          <a:noFill/>
          <a:ln w="31750">
            <a:solidFill>
              <a:srgbClr val="B53B32"/>
            </a:solidFill>
            <a:prstDash val="solid"/>
          </a:ln>
        </p:spPr>
        <p:txBody>
          <a:bodyPr/>
          <a:p/>
        </p:txBody>
      </p:sp>
      <p:sp>
        <p:nvSpPr>
          <p:cNvPr id="4" name="Text 2"/>
          <p:cNvSpPr/>
          <p:nvPr/>
        </p:nvSpPr>
        <p:spPr>
          <a:xfrm>
            <a:off x="1389888" y="777240"/>
            <a:ext cx="9784080" cy="256032"/>
          </a:xfrm>
          <a:prstGeom prst="rect">
            <a:avLst/>
          </a:prstGeom>
          <a:noFill/>
          <a:ln/>
        </p:spPr>
        <p:txBody>
          <a:bodyPr wrap="square" lIns="0" tIns="0" rIns="0" bIns="0" rtlCol="0" anchor="ctr"/>
          <a:lstStyle/>
          <a:p>
            <a:pPr indent="0" marL="0">
              <a:buNone/>
            </a:pPr>
            <a:r>
              <a:rPr lang="en-US" sz="1100" dirty="0">
                <a:solidFill>
                  <a:srgbClr val="667085"/>
                </a:solidFill>
                <a:latin typeface="Times New Roman" pitchFamily="34" charset="0"/>
                <a:ea typeface="Times New Roman" pitchFamily="34" charset="-122"/>
                <a:cs typeface="Times New Roman" pitchFamily="34" charset="-120"/>
              </a:rPr>
              <a:t>Kết hợp IQR với kiểm tra trực quan và đối chiếu paper</a:t>
            </a:r>
            <a:endParaRPr lang="en-US" sz="1100" dirty="0"/>
          </a:p>
        </p:txBody>
      </p:sp>
      <p:sp>
        <p:nvSpPr>
          <p:cNvPr id="5" name="Shape 3"/>
          <p:cNvSpPr/>
          <p:nvPr/>
        </p:nvSpPr>
        <p:spPr>
          <a:xfrm>
            <a:off x="640080" y="1188720"/>
            <a:ext cx="3246120" cy="4251960"/>
          </a:xfrm>
          <a:prstGeom prst="roundRect">
            <a:avLst>
              <a:gd name="adj" fmla="val 1690"/>
            </a:avLst>
          </a:prstGeom>
          <a:solidFill>
            <a:srgbClr val="FFFFFF"/>
          </a:solidFill>
          <a:ln w="12700">
            <a:solidFill>
              <a:srgbClr val="E1E6EC"/>
            </a:solidFill>
            <a:prstDash val="solid"/>
          </a:ln>
        </p:spPr>
        <p:txBody>
          <a:bodyPr/>
          <a:p/>
        </p:txBody>
      </p:sp>
      <p:sp>
        <p:nvSpPr>
          <p:cNvPr id="6" name="Text 4"/>
          <p:cNvSpPr/>
          <p:nvPr/>
        </p:nvSpPr>
        <p:spPr>
          <a:xfrm>
            <a:off x="932688" y="1517904"/>
            <a:ext cx="1097280" cy="411480"/>
          </a:xfrm>
          <a:prstGeom prst="rect">
            <a:avLst/>
          </a:prstGeom>
          <a:noFill/>
          <a:ln/>
        </p:spPr>
        <p:txBody>
          <a:bodyPr wrap="square" lIns="0" tIns="0" rIns="0" bIns="0" rtlCol="0" anchor="ctr"/>
          <a:lstStyle/>
          <a:p>
            <a:pPr indent="0" marL="0">
              <a:buNone/>
            </a:pPr>
            <a:r>
              <a:rPr lang="en-US" sz="2700" b="1" dirty="0">
                <a:solidFill>
                  <a:srgbClr val="B53B32"/>
                </a:solidFill>
                <a:latin typeface="Times New Roman" pitchFamily="34" charset="0"/>
                <a:ea typeface="Times New Roman" pitchFamily="34" charset="-122"/>
                <a:cs typeface="Times New Roman" pitchFamily="34" charset="-120"/>
              </a:rPr>
              <a:t>IQR</a:t>
            </a:r>
            <a:endParaRPr lang="en-US" sz="2700" dirty="0"/>
          </a:p>
        </p:txBody>
      </p:sp>
      <p:sp>
        <p:nvSpPr>
          <p:cNvPr id="7" name="Text 5"/>
          <p:cNvSpPr/>
          <p:nvPr/>
        </p:nvSpPr>
        <p:spPr>
          <a:xfrm>
            <a:off x="932688" y="2093976"/>
            <a:ext cx="2651760" cy="1078992"/>
          </a:xfrm>
          <a:prstGeom prst="rect">
            <a:avLst/>
          </a:prstGeom>
          <a:noFill/>
          <a:ln/>
        </p:spPr>
        <p:txBody>
          <a:bodyPr wrap="square" lIns="0" tIns="0" rIns="0" bIns="0" rtlCol="0" anchor="ctr">
            <a:normAutofit/>
          </a:bodyPr>
          <a:lstStyle/>
          <a:p>
            <a:pPr indent="0" marL="0">
              <a:buNone/>
            </a:pPr>
            <a:r>
              <a:rPr lang="en-US" sz="1350" dirty="0">
                <a:solidFill>
                  <a:srgbClr val="1F2937"/>
                </a:solidFill>
                <a:latin typeface="Times New Roman" pitchFamily="34" charset="0"/>
                <a:ea typeface="Times New Roman" pitchFamily="34" charset="-122"/>
                <a:cs typeface="Times New Roman" pitchFamily="34" charset="-120"/>
              </a:rPr>
              <a:t>LotArea có 4,73% và SalePrice có 4,18% điểm nằm ngoài ngưỡng IQR. Nhưng điểm ngoài IQR chưa chắc là dữ liệu sai.</a:t>
            </a:r>
            <a:endParaRPr lang="en-US" sz="1350" dirty="0"/>
          </a:p>
        </p:txBody>
      </p:sp>
      <p:sp>
        <p:nvSpPr>
          <p:cNvPr id="8" name="Text 6"/>
          <p:cNvSpPr/>
          <p:nvPr/>
        </p:nvSpPr>
        <p:spPr>
          <a:xfrm>
            <a:off x="932688" y="3410712"/>
            <a:ext cx="2651760" cy="786384"/>
          </a:xfrm>
          <a:prstGeom prst="rect">
            <a:avLst/>
          </a:prstGeom>
          <a:noFill/>
          <a:ln/>
        </p:spPr>
        <p:txBody>
          <a:bodyPr wrap="square" lIns="0" tIns="0" rIns="0" bIns="0" rtlCol="0" anchor="ctr">
            <a:normAutofit/>
          </a:bodyPr>
          <a:lstStyle/>
          <a:p>
            <a:pPr indent="0" marL="0">
              <a:buNone/>
            </a:pPr>
            <a:r>
              <a:rPr lang="en-US" sz="1350" b="1" dirty="0">
                <a:solidFill>
                  <a:srgbClr val="173B5E"/>
                </a:solidFill>
                <a:latin typeface="Times New Roman" pitchFamily="34" charset="0"/>
                <a:ea typeface="Times New Roman" pitchFamily="34" charset="-122"/>
                <a:cs typeface="Times New Roman" pitchFamily="34" charset="-120"/>
              </a:rPr>
              <a:t>Với dữ liệu nhà ở, căn nhà rất lớn hoặc rất đắt vẫn có thể là giao dịch thật.</a:t>
            </a:r>
            <a:endParaRPr lang="en-US" sz="1350" dirty="0"/>
          </a:p>
        </p:txBody>
      </p:sp>
      <p:pic>
        <p:nvPicPr>
          <p:cNvPr id="9" name="Image 0" descr="/mnt/data/_docx_unzip/word/media/4469ba44665dccd255e1a479bdbb00c02387c1f7.png">    </p:cNvPr>
          <p:cNvPicPr>
            <a:picLocks noChangeAspect="1"/>
          </p:cNvPicPr>
          <p:nvPr/>
        </p:nvPicPr>
        <p:blipFill>
          <a:blip r:embed="rId1"/>
          <a:stretch>
            <a:fillRect/>
          </a:stretch>
        </p:blipFill>
        <p:spPr>
          <a:xfrm>
            <a:off x="4187952" y="1161288"/>
            <a:ext cx="4590288" cy="3072384"/>
          </a:xfrm>
          <a:prstGeom prst="rect">
            <a:avLst/>
          </a:prstGeom>
        </p:spPr>
      </p:pic>
      <p:sp>
        <p:nvSpPr>
          <p:cNvPr id="10" name="Shape 7"/>
          <p:cNvSpPr/>
          <p:nvPr/>
        </p:nvSpPr>
        <p:spPr>
          <a:xfrm>
            <a:off x="8942832" y="1197864"/>
            <a:ext cx="2532888" cy="4233672"/>
          </a:xfrm>
          <a:prstGeom prst="roundRect">
            <a:avLst>
              <a:gd name="adj" fmla="val 2166"/>
            </a:avLst>
          </a:prstGeom>
          <a:solidFill>
            <a:srgbClr val="FDF7F6"/>
          </a:solidFill>
          <a:ln w="12700">
            <a:solidFill>
              <a:srgbClr val="E6C6C1"/>
            </a:solidFill>
            <a:prstDash val="solid"/>
          </a:ln>
        </p:spPr>
        <p:txBody>
          <a:bodyPr/>
          <a:p/>
        </p:txBody>
      </p:sp>
      <p:sp>
        <p:nvSpPr>
          <p:cNvPr id="11" name="Text 8"/>
          <p:cNvSpPr/>
          <p:nvPr/>
        </p:nvSpPr>
        <p:spPr>
          <a:xfrm>
            <a:off x="9189720" y="1481328"/>
            <a:ext cx="2029968" cy="640080"/>
          </a:xfrm>
          <a:prstGeom prst="rect">
            <a:avLst/>
          </a:prstGeom>
          <a:noFill/>
          <a:ln/>
        </p:spPr>
        <p:txBody>
          <a:bodyPr wrap="square" lIns="0" tIns="0" rIns="0" bIns="0" rtlCol="0" anchor="ctr">
            <a:normAutofit/>
          </a:bodyPr>
          <a:lstStyle/>
          <a:p>
            <a:pPr algn="ctr" indent="0" marL="0">
              <a:buNone/>
            </a:pPr>
            <a:r>
              <a:rPr lang="en-US" sz="1700" b="1" dirty="0">
                <a:solidFill>
                  <a:srgbClr val="B53B32"/>
                </a:solidFill>
                <a:latin typeface="Times New Roman" pitchFamily="34" charset="0"/>
                <a:ea typeface="Times New Roman" pitchFamily="34" charset="-122"/>
                <a:cs typeface="Times New Roman" pitchFamily="34" charset="-120"/>
              </a:rPr>
              <a:t>2 mẫu nổi bật trong train Kaggle</a:t>
            </a:r>
            <a:endParaRPr lang="en-US" sz="1700" dirty="0"/>
          </a:p>
        </p:txBody>
      </p:sp>
      <p:sp>
        <p:nvSpPr>
          <p:cNvPr id="12" name="Text 9"/>
          <p:cNvSpPr/>
          <p:nvPr/>
        </p:nvSpPr>
        <p:spPr>
          <a:xfrm>
            <a:off x="9317736" y="2304288"/>
            <a:ext cx="1792224" cy="713232"/>
          </a:xfrm>
          <a:prstGeom prst="rect">
            <a:avLst/>
          </a:prstGeom>
          <a:noFill/>
          <a:ln/>
        </p:spPr>
        <p:txBody>
          <a:bodyPr wrap="square" lIns="0" tIns="0" rIns="0" bIns="0" rtlCol="0" anchor="ctr"/>
          <a:lstStyle/>
          <a:p>
            <a:pPr algn="ctr" indent="0" marL="0">
              <a:buNone/>
            </a:pPr>
            <a:r>
              <a:rPr lang="en-US" sz="2200" b="1" dirty="0">
                <a:solidFill>
                  <a:srgbClr val="173B5E"/>
                </a:solidFill>
                <a:latin typeface="Times New Roman" pitchFamily="34" charset="0"/>
                <a:ea typeface="Times New Roman" pitchFamily="34" charset="-122"/>
                <a:cs typeface="Times New Roman" pitchFamily="34" charset="-120"/>
              </a:rPr>
              <a:t>Id 524</a:t>
            </a:r>
            <a:endParaRPr lang="en-US" sz="2200" dirty="0"/>
          </a:p>
          <a:p>
            <a:pPr algn="ctr" indent="0" marL="0">
              <a:buNone/>
            </a:pPr>
            <a:r>
              <a:rPr lang="en-US" sz="2200" b="1" dirty="0">
                <a:solidFill>
                  <a:srgbClr val="173B5E"/>
                </a:solidFill>
                <a:latin typeface="Times New Roman" pitchFamily="34" charset="0"/>
                <a:ea typeface="Times New Roman" pitchFamily="34" charset="-122"/>
                <a:cs typeface="Times New Roman" pitchFamily="34" charset="-120"/>
              </a:rPr>
              <a:t>Id 1299</a:t>
            </a:r>
            <a:endParaRPr lang="en-US" sz="2200" dirty="0"/>
          </a:p>
        </p:txBody>
      </p:sp>
      <p:sp>
        <p:nvSpPr>
          <p:cNvPr id="13" name="Text 10"/>
          <p:cNvSpPr/>
          <p:nvPr/>
        </p:nvSpPr>
        <p:spPr>
          <a:xfrm>
            <a:off x="9189720" y="3246120"/>
            <a:ext cx="2039112" cy="987552"/>
          </a:xfrm>
          <a:prstGeom prst="rect">
            <a:avLst/>
          </a:prstGeom>
          <a:noFill/>
          <a:ln/>
        </p:spPr>
        <p:txBody>
          <a:bodyPr wrap="square" lIns="0" tIns="0" rIns="0" bIns="0" rtlCol="0" anchor="ctr">
            <a:normAutofit/>
          </a:bodyPr>
          <a:lstStyle/>
          <a:p>
            <a:pPr indent="0" marL="0">
              <a:buNone/>
            </a:pPr>
            <a:r>
              <a:rPr lang="en-US" sz="1250" dirty="0">
                <a:solidFill>
                  <a:srgbClr val="1F2937"/>
                </a:solidFill>
                <a:latin typeface="Times New Roman" pitchFamily="34" charset="0"/>
                <a:ea typeface="Times New Roman" pitchFamily="34" charset="-122"/>
                <a:cs typeface="Times New Roman" pitchFamily="34" charset="-120"/>
              </a:rPr>
              <a:t>Cả hai có GrLivArea &gt; 4000 sqft và giá bán thấp bất thường so với xu hướng chung.</a:t>
            </a:r>
            <a:endParaRPr lang="en-US" sz="1250" dirty="0"/>
          </a:p>
        </p:txBody>
      </p:sp>
      <p:sp>
        <p:nvSpPr>
          <p:cNvPr id="14" name="Text 11"/>
          <p:cNvSpPr/>
          <p:nvPr/>
        </p:nvSpPr>
        <p:spPr>
          <a:xfrm>
            <a:off x="9189720" y="4434840"/>
            <a:ext cx="2039112" cy="658368"/>
          </a:xfrm>
          <a:prstGeom prst="rect">
            <a:avLst/>
          </a:prstGeom>
          <a:noFill/>
          <a:ln/>
        </p:spPr>
        <p:txBody>
          <a:bodyPr wrap="square" lIns="0" tIns="0" rIns="0" bIns="0" rtlCol="0" anchor="ctr">
            <a:normAutofit/>
          </a:bodyPr>
          <a:lstStyle/>
          <a:p>
            <a:pPr indent="0" marL="0">
              <a:buNone/>
            </a:pPr>
            <a:r>
              <a:rPr lang="en-US" sz="1070" i="1" dirty="0">
                <a:solidFill>
                  <a:srgbClr val="667085"/>
                </a:solidFill>
                <a:latin typeface="Times New Roman" pitchFamily="34" charset="0"/>
                <a:ea typeface="Times New Roman" pitchFamily="34" charset="-122"/>
                <a:cs typeface="Times New Roman" pitchFamily="34" charset="-120"/>
              </a:rPr>
              <a:t>Paper De Cock đề cập 5 quan sát &gt; 4000 sqft trong bộ Ames đầy đủ. Tập train Kaggle của nhóm chỉ có 2 quan sát nổi bật này.</a:t>
            </a:r>
            <a:endParaRPr lang="en-US" sz="107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nvSpPr>
        <p:spPr>
          <a:xfrm>
            <a:off x="566928" y="347472"/>
            <a:ext cx="10789920" cy="384048"/>
          </a:xfrm>
          <a:prstGeom prst="rect">
            <a:avLst/>
          </a:prstGeom>
          <a:noFill/>
          <a:ln/>
        </p:spPr>
        <p:txBody>
          <a:bodyPr wrap="square" lIns="0" tIns="0" rIns="0" bIns="0" rtlCol="0" anchor="ctr"/>
          <a:lstStyle/>
          <a:p>
            <a:pPr indent="0" marL="0">
              <a:buNone/>
            </a:pPr>
            <a:r>
              <a:rPr lang="en-US" sz="2700" b="1" dirty="0">
                <a:solidFill>
                  <a:srgbClr val="173B5E"/>
                </a:solidFill>
                <a:latin typeface="Times New Roman" pitchFamily="34" charset="0"/>
                <a:ea typeface="Times New Roman" pitchFamily="34" charset="-122"/>
                <a:cs typeface="Times New Roman" pitchFamily="34" charset="-120"/>
              </a:rPr>
              <a:t>9. Kết luận EDA</a:t>
            </a:r>
            <a:endParaRPr lang="en-US" sz="2700" dirty="0"/>
          </a:p>
        </p:txBody>
      </p:sp>
      <p:sp>
        <p:nvSpPr>
          <p:cNvPr id="3" name="Shape 1"/>
          <p:cNvSpPr/>
          <p:nvPr/>
        </p:nvSpPr>
        <p:spPr>
          <a:xfrm>
            <a:off x="566928" y="859536"/>
            <a:ext cx="731520" cy="0"/>
          </a:xfrm>
          <a:prstGeom prst="line">
            <a:avLst/>
          </a:prstGeom>
          <a:noFill/>
          <a:ln w="31750">
            <a:solidFill>
              <a:srgbClr val="B53B32"/>
            </a:solidFill>
            <a:prstDash val="solid"/>
          </a:ln>
        </p:spPr>
        <p:txBody>
          <a:bodyPr/>
          <a:p/>
        </p:txBody>
      </p:sp>
      <p:sp>
        <p:nvSpPr>
          <p:cNvPr id="4" name="Text 2"/>
          <p:cNvSpPr/>
          <p:nvPr/>
        </p:nvSpPr>
        <p:spPr>
          <a:xfrm>
            <a:off x="1389888" y="777240"/>
            <a:ext cx="9784080" cy="256032"/>
          </a:xfrm>
          <a:prstGeom prst="rect">
            <a:avLst/>
          </a:prstGeom>
          <a:noFill/>
          <a:ln/>
        </p:spPr>
        <p:txBody>
          <a:bodyPr wrap="square" lIns="0" tIns="0" rIns="0" bIns="0" rtlCol="0" anchor="ctr"/>
          <a:lstStyle/>
          <a:p>
            <a:pPr indent="0" marL="0">
              <a:buNone/>
            </a:pPr>
            <a:r>
              <a:rPr lang="en-US" sz="1100" dirty="0">
                <a:solidFill>
                  <a:srgbClr val="667085"/>
                </a:solidFill>
                <a:latin typeface="Times New Roman" pitchFamily="34" charset="0"/>
                <a:ea typeface="Times New Roman" pitchFamily="34" charset="-122"/>
                <a:cs typeface="Times New Roman" pitchFamily="34" charset="-120"/>
              </a:rPr>
              <a:t>Những điểm cần nhớ trước khi xây dựng mô hình</a:t>
            </a:r>
            <a:endParaRPr lang="en-US" sz="1100" dirty="0"/>
          </a:p>
        </p:txBody>
      </p:sp>
      <p:sp>
        <p:nvSpPr>
          <p:cNvPr id="5" name="Shape 3"/>
          <p:cNvSpPr/>
          <p:nvPr/>
        </p:nvSpPr>
        <p:spPr>
          <a:xfrm>
            <a:off x="640080" y="1143000"/>
            <a:ext cx="621792" cy="566928"/>
          </a:xfrm>
          <a:prstGeom prst="roundRect">
            <a:avLst>
              <a:gd name="adj" fmla="val 9677"/>
            </a:avLst>
          </a:prstGeom>
          <a:solidFill>
            <a:srgbClr val="173B5E"/>
          </a:solidFill>
          <a:ln w="12700">
            <a:solidFill>
              <a:srgbClr val="173B5E"/>
            </a:solidFill>
            <a:prstDash val="solid"/>
          </a:ln>
        </p:spPr>
        <p:txBody>
          <a:bodyPr/>
          <a:p/>
        </p:txBody>
      </p:sp>
      <p:sp>
        <p:nvSpPr>
          <p:cNvPr id="6" name="Text 4"/>
          <p:cNvSpPr/>
          <p:nvPr/>
        </p:nvSpPr>
        <p:spPr>
          <a:xfrm>
            <a:off x="640080" y="1271016"/>
            <a:ext cx="621792" cy="201168"/>
          </a:xfrm>
          <a:prstGeom prst="rect">
            <a:avLst/>
          </a:prstGeom>
          <a:noFill/>
          <a:ln/>
        </p:spPr>
        <p:txBody>
          <a:bodyPr wrap="square" lIns="0" tIns="0" rIns="0" bIns="0" rtlCol="0" anchor="ctr"/>
          <a:lstStyle/>
          <a:p>
            <a:pPr algn="ctr" indent="0" marL="0">
              <a:buNone/>
            </a:pPr>
            <a:r>
              <a:rPr lang="en-US" sz="1300" b="1" dirty="0">
                <a:solidFill>
                  <a:srgbClr val="FFFFFF"/>
                </a:solidFill>
                <a:latin typeface="Times New Roman" pitchFamily="34" charset="0"/>
                <a:ea typeface="Times New Roman" pitchFamily="34" charset="-122"/>
                <a:cs typeface="Times New Roman" pitchFamily="34" charset="-120"/>
              </a:rPr>
              <a:t>01</a:t>
            </a:r>
            <a:endParaRPr lang="en-US" sz="1300" dirty="0"/>
          </a:p>
        </p:txBody>
      </p:sp>
      <p:sp>
        <p:nvSpPr>
          <p:cNvPr id="7" name="Text 5"/>
          <p:cNvSpPr/>
          <p:nvPr/>
        </p:nvSpPr>
        <p:spPr>
          <a:xfrm>
            <a:off x="1481328" y="1161288"/>
            <a:ext cx="2011680" cy="256032"/>
          </a:xfrm>
          <a:prstGeom prst="rect">
            <a:avLst/>
          </a:prstGeom>
          <a:noFill/>
          <a:ln/>
        </p:spPr>
        <p:txBody>
          <a:bodyPr wrap="square" lIns="0" tIns="0" rIns="0" bIns="0" rtlCol="0" anchor="ctr"/>
          <a:lstStyle/>
          <a:p>
            <a:pPr indent="0" marL="0">
              <a:buNone/>
            </a:pPr>
            <a:r>
              <a:rPr lang="en-US" sz="1600" b="1" dirty="0">
                <a:solidFill>
                  <a:srgbClr val="1F2937"/>
                </a:solidFill>
                <a:latin typeface="Times New Roman" pitchFamily="34" charset="0"/>
                <a:ea typeface="Times New Roman" pitchFamily="34" charset="-122"/>
                <a:cs typeface="Times New Roman" pitchFamily="34" charset="-120"/>
              </a:rPr>
              <a:t>Bài toán</a:t>
            </a:r>
            <a:endParaRPr lang="en-US" sz="1600" dirty="0"/>
          </a:p>
        </p:txBody>
      </p:sp>
      <p:sp>
        <p:nvSpPr>
          <p:cNvPr id="8" name="Text 6"/>
          <p:cNvSpPr/>
          <p:nvPr/>
        </p:nvSpPr>
        <p:spPr>
          <a:xfrm>
            <a:off x="3246120" y="1152144"/>
            <a:ext cx="8001000" cy="475488"/>
          </a:xfrm>
          <a:prstGeom prst="rect">
            <a:avLst/>
          </a:prstGeom>
          <a:noFill/>
          <a:ln/>
        </p:spPr>
        <p:txBody>
          <a:bodyPr wrap="square" lIns="0" tIns="0" rIns="0" bIns="0" rtlCol="0" anchor="ctr">
            <a:normAutofit/>
          </a:bodyPr>
          <a:lstStyle/>
          <a:p>
            <a:pPr indent="0" marL="0">
              <a:buNone/>
            </a:pPr>
            <a:r>
              <a:rPr lang="en-US" sz="1340" dirty="0">
                <a:solidFill>
                  <a:srgbClr val="1F2937"/>
                </a:solidFill>
                <a:latin typeface="Times New Roman" pitchFamily="34" charset="0"/>
                <a:ea typeface="Times New Roman" pitchFamily="34" charset="-122"/>
                <a:cs typeface="Times New Roman" pitchFamily="34" charset="-120"/>
              </a:rPr>
              <a:t>Hồi quy dự đoán SalePrice trên 1460 quan sát train.</a:t>
            </a:r>
            <a:endParaRPr lang="en-US" sz="1340" dirty="0"/>
          </a:p>
        </p:txBody>
      </p:sp>
      <p:sp>
        <p:nvSpPr>
          <p:cNvPr id="9" name="Shape 7"/>
          <p:cNvSpPr/>
          <p:nvPr/>
        </p:nvSpPr>
        <p:spPr>
          <a:xfrm>
            <a:off x="640080" y="2057400"/>
            <a:ext cx="621792" cy="566928"/>
          </a:xfrm>
          <a:prstGeom prst="roundRect">
            <a:avLst>
              <a:gd name="adj" fmla="val 9677"/>
            </a:avLst>
          </a:prstGeom>
          <a:solidFill>
            <a:srgbClr val="B53B32"/>
          </a:solidFill>
          <a:ln w="12700">
            <a:solidFill>
              <a:srgbClr val="B53B32"/>
            </a:solidFill>
            <a:prstDash val="solid"/>
          </a:ln>
        </p:spPr>
        <p:txBody>
          <a:bodyPr/>
          <a:p/>
        </p:txBody>
      </p:sp>
      <p:sp>
        <p:nvSpPr>
          <p:cNvPr id="10" name="Text 8"/>
          <p:cNvSpPr/>
          <p:nvPr/>
        </p:nvSpPr>
        <p:spPr>
          <a:xfrm>
            <a:off x="640080" y="2185416"/>
            <a:ext cx="621792" cy="201168"/>
          </a:xfrm>
          <a:prstGeom prst="rect">
            <a:avLst/>
          </a:prstGeom>
          <a:noFill/>
          <a:ln/>
        </p:spPr>
        <p:txBody>
          <a:bodyPr wrap="square" lIns="0" tIns="0" rIns="0" bIns="0" rtlCol="0" anchor="ctr"/>
          <a:lstStyle/>
          <a:p>
            <a:pPr algn="ctr" indent="0" marL="0">
              <a:buNone/>
            </a:pPr>
            <a:r>
              <a:rPr lang="en-US" sz="1300" b="1" dirty="0">
                <a:solidFill>
                  <a:srgbClr val="FFFFFF"/>
                </a:solidFill>
                <a:latin typeface="Times New Roman" pitchFamily="34" charset="0"/>
                <a:ea typeface="Times New Roman" pitchFamily="34" charset="-122"/>
                <a:cs typeface="Times New Roman" pitchFamily="34" charset="-120"/>
              </a:rPr>
              <a:t>02</a:t>
            </a:r>
            <a:endParaRPr lang="en-US" sz="1300" dirty="0"/>
          </a:p>
        </p:txBody>
      </p:sp>
      <p:sp>
        <p:nvSpPr>
          <p:cNvPr id="11" name="Text 9"/>
          <p:cNvSpPr/>
          <p:nvPr/>
        </p:nvSpPr>
        <p:spPr>
          <a:xfrm>
            <a:off x="1481328" y="2075688"/>
            <a:ext cx="2011680" cy="256032"/>
          </a:xfrm>
          <a:prstGeom prst="rect">
            <a:avLst/>
          </a:prstGeom>
          <a:noFill/>
          <a:ln/>
        </p:spPr>
        <p:txBody>
          <a:bodyPr wrap="square" lIns="0" tIns="0" rIns="0" bIns="0" rtlCol="0" anchor="ctr"/>
          <a:lstStyle/>
          <a:p>
            <a:pPr indent="0" marL="0">
              <a:buNone/>
            </a:pPr>
            <a:r>
              <a:rPr lang="en-US" sz="1600" b="1" dirty="0">
                <a:solidFill>
                  <a:srgbClr val="1F2937"/>
                </a:solidFill>
                <a:latin typeface="Times New Roman" pitchFamily="34" charset="0"/>
                <a:ea typeface="Times New Roman" pitchFamily="34" charset="-122"/>
                <a:cs typeface="Times New Roman" pitchFamily="34" charset="-120"/>
              </a:rPr>
              <a:t>Phân phối</a:t>
            </a:r>
            <a:endParaRPr lang="en-US" sz="1600" dirty="0"/>
          </a:p>
        </p:txBody>
      </p:sp>
      <p:sp>
        <p:nvSpPr>
          <p:cNvPr id="12" name="Text 10"/>
          <p:cNvSpPr/>
          <p:nvPr/>
        </p:nvSpPr>
        <p:spPr>
          <a:xfrm>
            <a:off x="3246120" y="2066544"/>
            <a:ext cx="8001000" cy="475488"/>
          </a:xfrm>
          <a:prstGeom prst="rect">
            <a:avLst/>
          </a:prstGeom>
          <a:noFill/>
          <a:ln/>
        </p:spPr>
        <p:txBody>
          <a:bodyPr wrap="square" lIns="0" tIns="0" rIns="0" bIns="0" rtlCol="0" anchor="ctr">
            <a:normAutofit/>
          </a:bodyPr>
          <a:lstStyle/>
          <a:p>
            <a:pPr indent="0" marL="0">
              <a:buNone/>
            </a:pPr>
            <a:r>
              <a:rPr lang="en-US" sz="1340" dirty="0">
                <a:solidFill>
                  <a:srgbClr val="1F2937"/>
                </a:solidFill>
                <a:latin typeface="Times New Roman" pitchFamily="34" charset="0"/>
                <a:ea typeface="Times New Roman" pitchFamily="34" charset="-122"/>
                <a:cs typeface="Times New Roman" pitchFamily="34" charset="-120"/>
              </a:rPr>
              <a:t>SalePrice và nhiều biến diện tích lệch phải; log-transform là hướng có thể cân nhắc.</a:t>
            </a:r>
            <a:endParaRPr lang="en-US" sz="1340" dirty="0"/>
          </a:p>
        </p:txBody>
      </p:sp>
      <p:sp>
        <p:nvSpPr>
          <p:cNvPr id="13" name="Shape 11"/>
          <p:cNvSpPr/>
          <p:nvPr/>
        </p:nvSpPr>
        <p:spPr>
          <a:xfrm>
            <a:off x="640080" y="2971800"/>
            <a:ext cx="621792" cy="566928"/>
          </a:xfrm>
          <a:prstGeom prst="roundRect">
            <a:avLst>
              <a:gd name="adj" fmla="val 9677"/>
            </a:avLst>
          </a:prstGeom>
          <a:solidFill>
            <a:srgbClr val="446F92"/>
          </a:solidFill>
          <a:ln w="12700">
            <a:solidFill>
              <a:srgbClr val="446F92"/>
            </a:solidFill>
            <a:prstDash val="solid"/>
          </a:ln>
        </p:spPr>
        <p:txBody>
          <a:bodyPr/>
          <a:p/>
        </p:txBody>
      </p:sp>
      <p:sp>
        <p:nvSpPr>
          <p:cNvPr id="14" name="Text 12"/>
          <p:cNvSpPr/>
          <p:nvPr/>
        </p:nvSpPr>
        <p:spPr>
          <a:xfrm>
            <a:off x="640080" y="3099816"/>
            <a:ext cx="621792" cy="201168"/>
          </a:xfrm>
          <a:prstGeom prst="rect">
            <a:avLst/>
          </a:prstGeom>
          <a:noFill/>
          <a:ln/>
        </p:spPr>
        <p:txBody>
          <a:bodyPr wrap="square" lIns="0" tIns="0" rIns="0" bIns="0" rtlCol="0" anchor="ctr"/>
          <a:lstStyle/>
          <a:p>
            <a:pPr algn="ctr" indent="0" marL="0">
              <a:buNone/>
            </a:pPr>
            <a:r>
              <a:rPr lang="en-US" sz="1300" b="1" dirty="0">
                <a:solidFill>
                  <a:srgbClr val="FFFFFF"/>
                </a:solidFill>
                <a:latin typeface="Times New Roman" pitchFamily="34" charset="0"/>
                <a:ea typeface="Times New Roman" pitchFamily="34" charset="-122"/>
                <a:cs typeface="Times New Roman" pitchFamily="34" charset="-120"/>
              </a:rPr>
              <a:t>03</a:t>
            </a:r>
            <a:endParaRPr lang="en-US" sz="1300" dirty="0"/>
          </a:p>
        </p:txBody>
      </p:sp>
      <p:sp>
        <p:nvSpPr>
          <p:cNvPr id="15" name="Text 13"/>
          <p:cNvSpPr/>
          <p:nvPr/>
        </p:nvSpPr>
        <p:spPr>
          <a:xfrm>
            <a:off x="1481328" y="2990088"/>
            <a:ext cx="2011680" cy="256032"/>
          </a:xfrm>
          <a:prstGeom prst="rect">
            <a:avLst/>
          </a:prstGeom>
          <a:noFill/>
          <a:ln/>
        </p:spPr>
        <p:txBody>
          <a:bodyPr wrap="square" lIns="0" tIns="0" rIns="0" bIns="0" rtlCol="0" anchor="ctr"/>
          <a:lstStyle/>
          <a:p>
            <a:pPr indent="0" marL="0">
              <a:buNone/>
            </a:pPr>
            <a:r>
              <a:rPr lang="en-US" sz="1600" b="1" dirty="0">
                <a:solidFill>
                  <a:srgbClr val="1F2937"/>
                </a:solidFill>
                <a:latin typeface="Times New Roman" pitchFamily="34" charset="0"/>
                <a:ea typeface="Times New Roman" pitchFamily="34" charset="-122"/>
                <a:cs typeface="Times New Roman" pitchFamily="34" charset="-120"/>
              </a:rPr>
              <a:t>Quan hệ đáng chú ý</a:t>
            </a:r>
            <a:endParaRPr lang="en-US" sz="1600" dirty="0"/>
          </a:p>
        </p:txBody>
      </p:sp>
      <p:sp>
        <p:nvSpPr>
          <p:cNvPr id="16" name="Text 14"/>
          <p:cNvSpPr/>
          <p:nvPr/>
        </p:nvSpPr>
        <p:spPr>
          <a:xfrm>
            <a:off x="3246120" y="2980944"/>
            <a:ext cx="8001000" cy="475488"/>
          </a:xfrm>
          <a:prstGeom prst="rect">
            <a:avLst/>
          </a:prstGeom>
          <a:noFill/>
          <a:ln/>
        </p:spPr>
        <p:txBody>
          <a:bodyPr wrap="square" lIns="0" tIns="0" rIns="0" bIns="0" rtlCol="0" anchor="ctr">
            <a:normAutofit/>
          </a:bodyPr>
          <a:lstStyle/>
          <a:p>
            <a:pPr indent="0" marL="0">
              <a:buNone/>
            </a:pPr>
            <a:r>
              <a:rPr lang="en-US" sz="1340" dirty="0">
                <a:solidFill>
                  <a:srgbClr val="1F2937"/>
                </a:solidFill>
                <a:latin typeface="Times New Roman" pitchFamily="34" charset="0"/>
                <a:ea typeface="Times New Roman" pitchFamily="34" charset="-122"/>
                <a:cs typeface="Times New Roman" pitchFamily="34" charset="-120"/>
              </a:rPr>
              <a:t>OverallQual, GrLivArea, GarageCars/GarageArea và TotalBsmtSF có tương quan khá mạnh với SalePrice.</a:t>
            </a:r>
            <a:endParaRPr lang="en-US" sz="1340" dirty="0"/>
          </a:p>
        </p:txBody>
      </p:sp>
      <p:sp>
        <p:nvSpPr>
          <p:cNvPr id="17" name="Shape 15"/>
          <p:cNvSpPr/>
          <p:nvPr/>
        </p:nvSpPr>
        <p:spPr>
          <a:xfrm>
            <a:off x="640080" y="3886200"/>
            <a:ext cx="621792" cy="566928"/>
          </a:xfrm>
          <a:prstGeom prst="roundRect">
            <a:avLst>
              <a:gd name="adj" fmla="val 9677"/>
            </a:avLst>
          </a:prstGeom>
          <a:solidFill>
            <a:srgbClr val="3F7D5B"/>
          </a:solidFill>
          <a:ln w="12700">
            <a:solidFill>
              <a:srgbClr val="3F7D5B"/>
            </a:solidFill>
            <a:prstDash val="solid"/>
          </a:ln>
        </p:spPr>
        <p:txBody>
          <a:bodyPr/>
          <a:p/>
        </p:txBody>
      </p:sp>
      <p:sp>
        <p:nvSpPr>
          <p:cNvPr id="18" name="Text 16"/>
          <p:cNvSpPr/>
          <p:nvPr/>
        </p:nvSpPr>
        <p:spPr>
          <a:xfrm>
            <a:off x="640080" y="4014216"/>
            <a:ext cx="621792" cy="201168"/>
          </a:xfrm>
          <a:prstGeom prst="rect">
            <a:avLst/>
          </a:prstGeom>
          <a:noFill/>
          <a:ln/>
        </p:spPr>
        <p:txBody>
          <a:bodyPr wrap="square" lIns="0" tIns="0" rIns="0" bIns="0" rtlCol="0" anchor="ctr"/>
          <a:lstStyle/>
          <a:p>
            <a:pPr algn="ctr" indent="0" marL="0">
              <a:buNone/>
            </a:pPr>
            <a:r>
              <a:rPr lang="en-US" sz="1300" b="1" dirty="0">
                <a:solidFill>
                  <a:srgbClr val="FFFFFF"/>
                </a:solidFill>
                <a:latin typeface="Times New Roman" pitchFamily="34" charset="0"/>
                <a:ea typeface="Times New Roman" pitchFamily="34" charset="-122"/>
                <a:cs typeface="Times New Roman" pitchFamily="34" charset="-120"/>
              </a:rPr>
              <a:t>04</a:t>
            </a:r>
            <a:endParaRPr lang="en-US" sz="1300" dirty="0"/>
          </a:p>
        </p:txBody>
      </p:sp>
      <p:sp>
        <p:nvSpPr>
          <p:cNvPr id="19" name="Text 17"/>
          <p:cNvSpPr/>
          <p:nvPr/>
        </p:nvSpPr>
        <p:spPr>
          <a:xfrm>
            <a:off x="1481328" y="3904488"/>
            <a:ext cx="2011680" cy="256032"/>
          </a:xfrm>
          <a:prstGeom prst="rect">
            <a:avLst/>
          </a:prstGeom>
          <a:noFill/>
          <a:ln/>
        </p:spPr>
        <p:txBody>
          <a:bodyPr wrap="square" lIns="0" tIns="0" rIns="0" bIns="0" rtlCol="0" anchor="ctr"/>
          <a:lstStyle/>
          <a:p>
            <a:pPr indent="0" marL="0">
              <a:buNone/>
            </a:pPr>
            <a:r>
              <a:rPr lang="en-US" sz="1600" b="1" dirty="0">
                <a:solidFill>
                  <a:srgbClr val="1F2937"/>
                </a:solidFill>
                <a:latin typeface="Times New Roman" pitchFamily="34" charset="0"/>
                <a:ea typeface="Times New Roman" pitchFamily="34" charset="-122"/>
                <a:cs typeface="Times New Roman" pitchFamily="34" charset="-120"/>
              </a:rPr>
              <a:t>Dữ liệu chất lượng</a:t>
            </a:r>
            <a:endParaRPr lang="en-US" sz="1600" dirty="0"/>
          </a:p>
        </p:txBody>
      </p:sp>
      <p:sp>
        <p:nvSpPr>
          <p:cNvPr id="20" name="Text 18"/>
          <p:cNvSpPr/>
          <p:nvPr/>
        </p:nvSpPr>
        <p:spPr>
          <a:xfrm>
            <a:off x="3246120" y="3895344"/>
            <a:ext cx="8001000" cy="475488"/>
          </a:xfrm>
          <a:prstGeom prst="rect">
            <a:avLst/>
          </a:prstGeom>
          <a:noFill/>
          <a:ln/>
        </p:spPr>
        <p:txBody>
          <a:bodyPr wrap="square" lIns="0" tIns="0" rIns="0" bIns="0" rtlCol="0" anchor="ctr">
            <a:normAutofit/>
          </a:bodyPr>
          <a:lstStyle/>
          <a:p>
            <a:pPr indent="0" marL="0">
              <a:buNone/>
            </a:pPr>
            <a:r>
              <a:rPr lang="en-US" sz="1340" dirty="0">
                <a:solidFill>
                  <a:srgbClr val="1F2937"/>
                </a:solidFill>
                <a:latin typeface="Times New Roman" pitchFamily="34" charset="0"/>
                <a:ea typeface="Times New Roman" pitchFamily="34" charset="-122"/>
                <a:cs typeface="Times New Roman" pitchFamily="34" charset="-120"/>
              </a:rPr>
              <a:t>19 cột có giá trị thiếu; nhiều trường hợp là missing có cấu trúc và cần xử lý theo ý nghĩa biến.</a:t>
            </a:r>
            <a:endParaRPr lang="en-US" sz="1340" dirty="0"/>
          </a:p>
        </p:txBody>
      </p:sp>
      <p:sp>
        <p:nvSpPr>
          <p:cNvPr id="21" name="Shape 19"/>
          <p:cNvSpPr/>
          <p:nvPr/>
        </p:nvSpPr>
        <p:spPr>
          <a:xfrm>
            <a:off x="640080" y="4800600"/>
            <a:ext cx="621792" cy="566928"/>
          </a:xfrm>
          <a:prstGeom prst="roundRect">
            <a:avLst>
              <a:gd name="adj" fmla="val 9677"/>
            </a:avLst>
          </a:prstGeom>
          <a:solidFill>
            <a:srgbClr val="A77B2D"/>
          </a:solidFill>
          <a:ln w="12700">
            <a:solidFill>
              <a:srgbClr val="A77B2D"/>
            </a:solidFill>
            <a:prstDash val="solid"/>
          </a:ln>
        </p:spPr>
        <p:txBody>
          <a:bodyPr/>
          <a:p/>
        </p:txBody>
      </p:sp>
      <p:sp>
        <p:nvSpPr>
          <p:cNvPr id="22" name="Text 20"/>
          <p:cNvSpPr/>
          <p:nvPr/>
        </p:nvSpPr>
        <p:spPr>
          <a:xfrm>
            <a:off x="640080" y="4928616"/>
            <a:ext cx="621792" cy="201168"/>
          </a:xfrm>
          <a:prstGeom prst="rect">
            <a:avLst/>
          </a:prstGeom>
          <a:noFill/>
          <a:ln/>
        </p:spPr>
        <p:txBody>
          <a:bodyPr wrap="square" lIns="0" tIns="0" rIns="0" bIns="0" rtlCol="0" anchor="ctr"/>
          <a:lstStyle/>
          <a:p>
            <a:pPr algn="ctr" indent="0" marL="0">
              <a:buNone/>
            </a:pPr>
            <a:r>
              <a:rPr lang="en-US" sz="1300" b="1" dirty="0">
                <a:solidFill>
                  <a:srgbClr val="FFFFFF"/>
                </a:solidFill>
                <a:latin typeface="Times New Roman" pitchFamily="34" charset="0"/>
                <a:ea typeface="Times New Roman" pitchFamily="34" charset="-122"/>
                <a:cs typeface="Times New Roman" pitchFamily="34" charset="-120"/>
              </a:rPr>
              <a:t>05</a:t>
            </a:r>
            <a:endParaRPr lang="en-US" sz="1300" dirty="0"/>
          </a:p>
        </p:txBody>
      </p:sp>
      <p:sp>
        <p:nvSpPr>
          <p:cNvPr id="23" name="Text 21"/>
          <p:cNvSpPr/>
          <p:nvPr/>
        </p:nvSpPr>
        <p:spPr>
          <a:xfrm>
            <a:off x="1481328" y="4818888"/>
            <a:ext cx="2011680" cy="256032"/>
          </a:xfrm>
          <a:prstGeom prst="rect">
            <a:avLst/>
          </a:prstGeom>
          <a:noFill/>
          <a:ln/>
        </p:spPr>
        <p:txBody>
          <a:bodyPr wrap="square" lIns="0" tIns="0" rIns="0" bIns="0" rtlCol="0" anchor="ctr"/>
          <a:lstStyle/>
          <a:p>
            <a:pPr indent="0" marL="0">
              <a:buNone/>
            </a:pPr>
            <a:r>
              <a:rPr lang="en-US" sz="1600" b="1" dirty="0">
                <a:solidFill>
                  <a:srgbClr val="1F2937"/>
                </a:solidFill>
                <a:latin typeface="Times New Roman" pitchFamily="34" charset="0"/>
                <a:ea typeface="Times New Roman" pitchFamily="34" charset="-122"/>
                <a:cs typeface="Times New Roman" pitchFamily="34" charset="-120"/>
              </a:rPr>
              <a:t>Ngoại lệ</a:t>
            </a:r>
            <a:endParaRPr lang="en-US" sz="1600" dirty="0"/>
          </a:p>
        </p:txBody>
      </p:sp>
      <p:sp>
        <p:nvSpPr>
          <p:cNvPr id="24" name="Text 22"/>
          <p:cNvSpPr/>
          <p:nvPr/>
        </p:nvSpPr>
        <p:spPr>
          <a:xfrm>
            <a:off x="3246120" y="4809744"/>
            <a:ext cx="8001000" cy="475488"/>
          </a:xfrm>
          <a:prstGeom prst="rect">
            <a:avLst/>
          </a:prstGeom>
          <a:noFill/>
          <a:ln/>
        </p:spPr>
        <p:txBody>
          <a:bodyPr wrap="square" lIns="0" tIns="0" rIns="0" bIns="0" rtlCol="0" anchor="ctr">
            <a:normAutofit/>
          </a:bodyPr>
          <a:lstStyle/>
          <a:p>
            <a:pPr indent="0" marL="0">
              <a:buNone/>
            </a:pPr>
            <a:r>
              <a:rPr lang="en-US" sz="1340" dirty="0">
                <a:solidFill>
                  <a:srgbClr val="1F2937"/>
                </a:solidFill>
                <a:latin typeface="Times New Roman" pitchFamily="34" charset="0"/>
                <a:ea typeface="Times New Roman" pitchFamily="34" charset="-122"/>
                <a:cs typeface="Times New Roman" pitchFamily="34" charset="-120"/>
              </a:rPr>
              <a:t>2 bản ghi nổi bật trong train Kaggle cần kiểm tra riêng trước khi mô hình hóa.</a:t>
            </a:r>
            <a:endParaRPr lang="en-US" sz="1340" dirty="0"/>
          </a:p>
        </p:txBody>
      </p:sp>
      <p:sp>
        <p:nvSpPr>
          <p:cNvPr id="25" name="Shape 23"/>
          <p:cNvSpPr/>
          <p:nvPr/>
        </p:nvSpPr>
        <p:spPr>
          <a:xfrm>
            <a:off x="658368" y="5797296"/>
            <a:ext cx="10744200" cy="0"/>
          </a:xfrm>
          <a:prstGeom prst="line">
            <a:avLst/>
          </a:prstGeom>
          <a:noFill/>
          <a:ln w="12700">
            <a:solidFill>
              <a:srgbClr val="D8DEE6"/>
            </a:solidFill>
            <a:prstDash val="solid"/>
          </a:ln>
        </p:spPr>
        <p:txBody>
          <a:bodyP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Times New Roman"/>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Times New Roman"/>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11</Slides>
  <Notes>11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11</vt:i4>
      </vt:variant>
    </vt:vector>
  </HeadingPairs>
  <TitlesOfParts>
    <vt:vector size="14"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vector>
  </TitlesOfParts>
  <Company>Trường Đại học Sài Gòn</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EDA Ames Housing</dc:title>
  <dc:subject>Phân tích khám phá dữ liệu Ames Housing</dc:subject>
  <dc:creator>Nhóm đồ án</dc:creator>
  <cp:lastModifiedBy>Nhóm đồ án</cp:lastModifiedBy>
  <cp:revision>1</cp:revision>
  <dcterms:created xsi:type="dcterms:W3CDTF">2026-09-24T06:27:53Z</dcterms:created>
  <dcterms:modified xsi:type="dcterms:W3CDTF">2026-09-24T06:27:53Z</dcterms:modified>
</cp:coreProperties>
</file>